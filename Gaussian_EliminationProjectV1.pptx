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20"/>
  </p:notesMasterIdLst>
  <p:sldIdLst>
    <p:sldId id="256" r:id="rId2"/>
    <p:sldId id="257" r:id="rId3"/>
    <p:sldId id="299" r:id="rId4"/>
    <p:sldId id="259" r:id="rId5"/>
    <p:sldId id="300" r:id="rId6"/>
    <p:sldId id="269" r:id="rId7"/>
    <p:sldId id="263" r:id="rId8"/>
    <p:sldId id="287" r:id="rId9"/>
    <p:sldId id="262" r:id="rId10"/>
    <p:sldId id="265" r:id="rId11"/>
    <p:sldId id="266" r:id="rId12"/>
    <p:sldId id="267" r:id="rId13"/>
    <p:sldId id="264" r:id="rId14"/>
    <p:sldId id="276" r:id="rId15"/>
    <p:sldId id="294" r:id="rId16"/>
    <p:sldId id="296" r:id="rId17"/>
    <p:sldId id="297" r:id="rId18"/>
    <p:sldId id="298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77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3913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696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387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373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304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1898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3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409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095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98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702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3843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4511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250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040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244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7672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64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89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8961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Gaussian Elimination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Partial Pivoting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University Project Defense • Interactive Web Solver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3337560"/>
            <a:ext cx="4069080" cy="420624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46557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</a:rPr>
              <a:t>FastAPI  +  React  +  NumPy  +  Pytest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541324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Presented by: Chandana KS &amp; Vivek Ramesh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</a:rPr>
              <a:t>Content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theory first, project implementation second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65376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93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1828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</a:rPr>
              <a:t>Theory &amp; background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825496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535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7889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</a:rPr>
              <a:t>Algorithm &amp; worked example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" y="3785616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749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</a:rPr>
              <a:t>Project architecture &amp; code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" y="4745736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87375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47091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</a:rPr>
              <a:t>Testing, demo &amp; results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Solving Systems of Linear Equations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8788" y="146304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5948" y="1572769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7474"/>
                </a:solidFill>
              </a:rPr>
              <a:t>Given a system  Ax =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108" y="201168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F172A"/>
                </a:solidFill>
              </a:rPr>
              <a:t>2x₁  +  x₂  −  x₃  = 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108" y="251460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F172A"/>
                </a:solidFill>
              </a:rPr>
              <a:t>−3x₁  −  x₂  + 2x₃  = −11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108" y="301752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F172A"/>
                </a:solidFill>
              </a:rPr>
              <a:t>−2x₁  +  x₂  + 2x₃  =  −3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948" y="3246121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</a:rPr>
              <a:t>Find:   x₁ = ?   x₂ = ?   x₃ =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2388" y="1463040"/>
            <a:ext cx="5303520" cy="49377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9548" y="1572769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</a:rPr>
              <a:t>Why is this challenging?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9548" y="2011680"/>
            <a:ext cx="5029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⚠ Manual solving is error-prone for large 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Naive algorithms fail on singular / near-singular matrices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Floating-point errors accumulate without pivoting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Hard to visualise what each step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Gaussian Elimination: background &amp; literature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Why this method is still central in numerical computing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2880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Historical origin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2267712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The elimination idea is associated with Carl Friedrich Gauss and became a standard systematic technique for solving simultaneous linear equations.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CFFAFE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828800"/>
            <a:ext cx="73152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Numerical linear algebra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267712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The method is a foundation for matrix algorithms used in scientific computing, simulation, optimization and statistics.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2440" y="182880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Modern relevance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57032" y="2267712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Even when advanced solvers are used, the core ideas—pivoting, triangularization and substitution—remain important.</a:t>
            </a:r>
            <a:endParaRPr lang="en-US" sz="132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443346-EABC-F31F-158A-58BDE7CBA3CE}"/>
              </a:ext>
            </a:extLst>
          </p:cNvPr>
          <p:cNvSpPr txBox="1"/>
          <p:nvPr/>
        </p:nvSpPr>
        <p:spPr>
          <a:xfrm>
            <a:off x="502920" y="3814527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F172A"/>
                </a:solidFill>
              </a:rPr>
              <a:t>What is Gaussian Elimination?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BA0844-7394-BB1E-B496-DD8A94224EC8}"/>
              </a:ext>
            </a:extLst>
          </p:cNvPr>
          <p:cNvSpPr/>
          <p:nvPr/>
        </p:nvSpPr>
        <p:spPr>
          <a:xfrm>
            <a:off x="551688" y="4977608"/>
            <a:ext cx="5486400" cy="1229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593A3A-7BEE-3F58-7AE6-39B937633976}"/>
              </a:ext>
            </a:extLst>
          </p:cNvPr>
          <p:cNvSpPr/>
          <p:nvPr/>
        </p:nvSpPr>
        <p:spPr>
          <a:xfrm>
            <a:off x="544068" y="4502752"/>
            <a:ext cx="5486400" cy="45720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24488E-A452-1752-B668-79F8F1269C8E}"/>
              </a:ext>
            </a:extLst>
          </p:cNvPr>
          <p:cNvSpPr txBox="1"/>
          <p:nvPr/>
        </p:nvSpPr>
        <p:spPr>
          <a:xfrm>
            <a:off x="658368" y="4577291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Phase 1 — Forward Elimination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66FC42-5EB7-42D4-3AE8-BACB67B1F984}"/>
              </a:ext>
            </a:extLst>
          </p:cNvPr>
          <p:cNvSpPr txBox="1"/>
          <p:nvPr/>
        </p:nvSpPr>
        <p:spPr>
          <a:xfrm>
            <a:off x="658368" y="5043335"/>
            <a:ext cx="5212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475669"/>
                </a:solidFill>
              </a:rPr>
              <a:t>▸ Convert the augmented matrix [</a:t>
            </a:r>
            <a:r>
              <a:rPr sz="1300" dirty="0" err="1">
                <a:solidFill>
                  <a:srgbClr val="475669"/>
                </a:solidFill>
              </a:rPr>
              <a:t>A|b</a:t>
            </a:r>
            <a:r>
              <a:rPr sz="1300" dirty="0">
                <a:solidFill>
                  <a:srgbClr val="475669"/>
                </a:solidFill>
              </a:rPr>
              <a:t>] into upper-triangular form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For each pivot column, eliminate all entries below the pivot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Row operation:  Rᵢ ← Rᵢ − (aᵢⱼ / pivot) × Rⱼ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Partial pivoting: always swap to bring the largest pivot to top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Prevents division by near-zero values (numerical stability)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24CAAC-8358-DE19-15CC-81FB96BEC7F6}"/>
              </a:ext>
            </a:extLst>
          </p:cNvPr>
          <p:cNvSpPr/>
          <p:nvPr/>
        </p:nvSpPr>
        <p:spPr>
          <a:xfrm>
            <a:off x="6373368" y="4448974"/>
            <a:ext cx="5486400" cy="17583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9092BA-A1F8-0FF6-E1D3-021CB55872E7}"/>
              </a:ext>
            </a:extLst>
          </p:cNvPr>
          <p:cNvSpPr/>
          <p:nvPr/>
        </p:nvSpPr>
        <p:spPr>
          <a:xfrm>
            <a:off x="6373368" y="4448974"/>
            <a:ext cx="548640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448D59-6948-D1FE-C907-EED08313E5A0}"/>
              </a:ext>
            </a:extLst>
          </p:cNvPr>
          <p:cNvSpPr txBox="1"/>
          <p:nvPr/>
        </p:nvSpPr>
        <p:spPr>
          <a:xfrm>
            <a:off x="6510528" y="4494695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Phase 2 — Back Substitution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CA654A-A0F3-EFF1-378C-A225ED5DD661}"/>
              </a:ext>
            </a:extLst>
          </p:cNvPr>
          <p:cNvSpPr txBox="1"/>
          <p:nvPr/>
        </p:nvSpPr>
        <p:spPr>
          <a:xfrm>
            <a:off x="6510528" y="5043335"/>
            <a:ext cx="5212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Start from the last equation — it has only one unknown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Substitute known values upward row by row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xₙ = bₙ / aₙₙ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xᵢ = (bᵢ − Σ aᵢⱼ xⱼ) / aᵢᵢ   for j &gt; i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Produces the final solution vector 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D3D68E-1554-F1E8-925F-75E22F5B4BAC}"/>
              </a:ext>
            </a:extLst>
          </p:cNvPr>
          <p:cNvSpPr txBox="1"/>
          <p:nvPr/>
        </p:nvSpPr>
        <p:spPr>
          <a:xfrm>
            <a:off x="353568" y="643268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5803D"/>
                </a:solidFill>
              </a:rPr>
              <a:t>Time Complexity:  O(n³)  for forward elimination  +  O(n²)  for back substitution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F24A7-3DE9-648A-9709-315E2207F0BB}"/>
              </a:ext>
            </a:extLst>
          </p:cNvPr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Methodology — Partial Pivoting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564DC-D8DA-888B-8996-BDD76F78F371}"/>
              </a:ext>
            </a:extLst>
          </p:cNvPr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Why Partial Pivoting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3C0A9-87C8-5CD0-4173-6273EB01283A}"/>
              </a:ext>
            </a:extLst>
          </p:cNvPr>
          <p:cNvSpPr/>
          <p:nvPr/>
        </p:nvSpPr>
        <p:spPr>
          <a:xfrm>
            <a:off x="457200" y="1463039"/>
            <a:ext cx="5394960" cy="30276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26259F-9CE4-A39A-3A05-7DB1DA42021B}"/>
              </a:ext>
            </a:extLst>
          </p:cNvPr>
          <p:cNvSpPr/>
          <p:nvPr/>
        </p:nvSpPr>
        <p:spPr>
          <a:xfrm>
            <a:off x="457200" y="1463040"/>
            <a:ext cx="539496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53631-9E88-F01C-9FCE-DA69D36B4E6C}"/>
              </a:ext>
            </a:extLst>
          </p:cNvPr>
          <p:cNvSpPr txBox="1"/>
          <p:nvPr/>
        </p:nvSpPr>
        <p:spPr>
          <a:xfrm>
            <a:off x="59436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 Without Pivoting — Unstable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CEEAA-57A4-3AA8-2FE9-7D50CDE1689F}"/>
              </a:ext>
            </a:extLst>
          </p:cNvPr>
          <p:cNvSpPr txBox="1"/>
          <p:nvPr/>
        </p:nvSpPr>
        <p:spPr>
          <a:xfrm>
            <a:off x="594360" y="19659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475669"/>
                </a:solidFill>
              </a:rPr>
              <a:t>▸ Pivot ≈ 0.0001 → factor = row / 0.0001 = 10,000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Huge multiplier amplifies floating-point rounding errors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Result can be completely wrong for well-posed systems</a:t>
            </a:r>
          </a:p>
          <a:p>
            <a:pPr algn="l"/>
            <a:r>
              <a:rPr sz="1300" dirty="0">
                <a:solidFill>
                  <a:srgbClr val="475669"/>
                </a:solidFill>
              </a:rPr>
              <a:t>▸ Division by exactly 0 crashes the algorithm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699493-A222-50CA-3BB7-855F57CDF161}"/>
              </a:ext>
            </a:extLst>
          </p:cNvPr>
          <p:cNvSpPr/>
          <p:nvPr/>
        </p:nvSpPr>
        <p:spPr>
          <a:xfrm>
            <a:off x="6400800" y="1463040"/>
            <a:ext cx="5303520" cy="2943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7E5CD9-58BC-59C0-5A62-F3BBAA02BBCF}"/>
              </a:ext>
            </a:extLst>
          </p:cNvPr>
          <p:cNvSpPr/>
          <p:nvPr/>
        </p:nvSpPr>
        <p:spPr>
          <a:xfrm>
            <a:off x="6400800" y="1463040"/>
            <a:ext cx="530352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B18D2-AAD5-D45E-36A3-8650BADF8B06}"/>
              </a:ext>
            </a:extLst>
          </p:cNvPr>
          <p:cNvSpPr txBox="1"/>
          <p:nvPr/>
        </p:nvSpPr>
        <p:spPr>
          <a:xfrm>
            <a:off x="65379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With Partial Pivoting — Stable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4FDBC-29A5-E604-8E07-7EC10F2342AB}"/>
              </a:ext>
            </a:extLst>
          </p:cNvPr>
          <p:cNvSpPr txBox="1"/>
          <p:nvPr/>
        </p:nvSpPr>
        <p:spPr>
          <a:xfrm>
            <a:off x="6519672" y="1965960"/>
            <a:ext cx="513892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Scan column below pivot row for the largest |value|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Swap that row to the pivot position before elimination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Multiplier |factor| ≤ 1 — no error amplification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Handles near-singular matrices gracefully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72F214-F67A-36C9-5B39-C9C0A423687A}"/>
              </a:ext>
            </a:extLst>
          </p:cNvPr>
          <p:cNvSpPr/>
          <p:nvPr/>
        </p:nvSpPr>
        <p:spPr>
          <a:xfrm>
            <a:off x="6299200" y="4588256"/>
            <a:ext cx="5559554" cy="22268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9C2FC-9268-EA39-C160-3C48E2568B82}"/>
              </a:ext>
            </a:extLst>
          </p:cNvPr>
          <p:cNvSpPr txBox="1"/>
          <p:nvPr/>
        </p:nvSpPr>
        <p:spPr>
          <a:xfrm>
            <a:off x="6548120" y="4644136"/>
            <a:ext cx="4881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7DD3FC"/>
                </a:solidFill>
                <a:latin typeface="Courier New"/>
              </a:rPr>
              <a:t># Find row with largest absolute value (partial pivot)</a:t>
            </a:r>
          </a:p>
          <a:p>
            <a:r>
              <a:rPr sz="10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 = col +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np.argmax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(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np.abs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(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[col:, col]))</a:t>
            </a:r>
          </a:p>
          <a:p>
            <a:endParaRPr sz="1000" dirty="0">
              <a:solidFill>
                <a:srgbClr val="7DD3FC"/>
              </a:solidFill>
              <a:latin typeface="Courier New"/>
            </a:endParaRPr>
          </a:p>
          <a:p>
            <a:r>
              <a:rPr sz="1000" dirty="0">
                <a:solidFill>
                  <a:srgbClr val="7DD3FC"/>
                </a:solidFill>
                <a:latin typeface="Courier New"/>
              </a:rPr>
              <a:t>if abs(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, col]) &lt; 1e-12:</a:t>
            </a:r>
          </a:p>
          <a:p>
            <a:r>
              <a:rPr sz="1000" dirty="0">
                <a:solidFill>
                  <a:srgbClr val="7DD3FC"/>
                </a:solidFill>
                <a:latin typeface="Courier New"/>
              </a:rPr>
              <a:t>    raise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ValueError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("Matrix is singular — no unique solution.")</a:t>
            </a:r>
          </a:p>
          <a:p>
            <a:endParaRPr sz="1000" dirty="0">
              <a:solidFill>
                <a:srgbClr val="7DD3FC"/>
              </a:solidFill>
              <a:latin typeface="Courier New"/>
            </a:endParaRPr>
          </a:p>
          <a:p>
            <a:r>
              <a:rPr sz="1000" dirty="0">
                <a:solidFill>
                  <a:srgbClr val="7DD3FC"/>
                </a:solidFill>
                <a:latin typeface="Courier New"/>
              </a:rPr>
              <a:t>if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 != col:</a:t>
            </a:r>
          </a:p>
          <a:p>
            <a:r>
              <a:rPr sz="1000" dirty="0">
                <a:solidFill>
                  <a:srgbClr val="7DD3FC"/>
                </a:solidFill>
                <a:latin typeface="Courier New"/>
              </a:rPr>
              <a:t>   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[[col,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]] =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[[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, col]]   # swap rows</a:t>
            </a:r>
          </a:p>
          <a:p>
            <a:endParaRPr sz="1000" dirty="0">
              <a:solidFill>
                <a:srgbClr val="7DD3FC"/>
              </a:solidFill>
              <a:latin typeface="Courier New"/>
            </a:endParaRPr>
          </a:p>
          <a:p>
            <a:r>
              <a:rPr sz="1000" dirty="0">
                <a:solidFill>
                  <a:srgbClr val="7DD3FC"/>
                </a:solidFill>
                <a:latin typeface="Courier New"/>
              </a:rPr>
              <a:t>factor =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[row, col] /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[col, col]</a:t>
            </a:r>
          </a:p>
          <a:p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[row] =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[row] - factor * </a:t>
            </a:r>
            <a:r>
              <a:rPr sz="10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1000" dirty="0">
                <a:solidFill>
                  <a:srgbClr val="7DD3FC"/>
                </a:solidFill>
                <a:latin typeface="Courier New"/>
              </a:rPr>
              <a:t>[col]             # eliminate</a:t>
            </a:r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C52F69AD-E314-C789-AAB7-E2F8F93EAD2C}"/>
              </a:ext>
            </a:extLst>
          </p:cNvPr>
          <p:cNvSpPr/>
          <p:nvPr/>
        </p:nvSpPr>
        <p:spPr>
          <a:xfrm>
            <a:off x="1252728" y="3034792"/>
            <a:ext cx="713232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2DB33ACF-E1A9-0553-2BE9-EC68C351D359}"/>
              </a:ext>
            </a:extLst>
          </p:cNvPr>
          <p:cNvSpPr/>
          <p:nvPr/>
        </p:nvSpPr>
        <p:spPr>
          <a:xfrm>
            <a:off x="1252728" y="30896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15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080FC5C7-2C0D-D713-0829-474AE660FD94}"/>
              </a:ext>
            </a:extLst>
          </p:cNvPr>
          <p:cNvSpPr/>
          <p:nvPr/>
        </p:nvSpPr>
        <p:spPr>
          <a:xfrm>
            <a:off x="1965960" y="3034792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E194D553-F9AD-FA8E-CF07-24C89AA2CB1E}"/>
              </a:ext>
            </a:extLst>
          </p:cNvPr>
          <p:cNvSpPr/>
          <p:nvPr/>
        </p:nvSpPr>
        <p:spPr>
          <a:xfrm>
            <a:off x="1965960" y="30896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005BA96A-A4D3-CAE5-CB49-7BA2EB8746A2}"/>
              </a:ext>
            </a:extLst>
          </p:cNvPr>
          <p:cNvSpPr/>
          <p:nvPr/>
        </p:nvSpPr>
        <p:spPr>
          <a:xfrm>
            <a:off x="2843784" y="3034792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650BE804-7EA3-4F17-2DDB-3ADF208EAF69}"/>
              </a:ext>
            </a:extLst>
          </p:cNvPr>
          <p:cNvSpPr/>
          <p:nvPr/>
        </p:nvSpPr>
        <p:spPr>
          <a:xfrm>
            <a:off x="2843784" y="30896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1.0001</a:t>
            </a:r>
            <a:endParaRPr lang="en-US" sz="1500" dirty="0"/>
          </a:p>
        </p:txBody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1876A10E-F402-B727-CF42-323722DEB523}"/>
              </a:ext>
            </a:extLst>
          </p:cNvPr>
          <p:cNvSpPr/>
          <p:nvPr/>
        </p:nvSpPr>
        <p:spPr>
          <a:xfrm>
            <a:off x="2752344" y="3034792"/>
            <a:ext cx="0" cy="43891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84E7DBFE-378D-E06A-344E-2855D3704BDF}"/>
              </a:ext>
            </a:extLst>
          </p:cNvPr>
          <p:cNvSpPr/>
          <p:nvPr/>
        </p:nvSpPr>
        <p:spPr>
          <a:xfrm>
            <a:off x="1252728" y="3473704"/>
            <a:ext cx="713232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5D9F5CE5-251F-DA00-9244-A078000EE4F8}"/>
              </a:ext>
            </a:extLst>
          </p:cNvPr>
          <p:cNvSpPr/>
          <p:nvPr/>
        </p:nvSpPr>
        <p:spPr>
          <a:xfrm>
            <a:off x="1252728" y="352856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08969362-2380-BD73-BFF7-6B2309E7E7B3}"/>
              </a:ext>
            </a:extLst>
          </p:cNvPr>
          <p:cNvSpPr/>
          <p:nvPr/>
        </p:nvSpPr>
        <p:spPr>
          <a:xfrm>
            <a:off x="1965960" y="3473704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3411C86B-CD99-23A7-536D-19CCF37F6122}"/>
              </a:ext>
            </a:extLst>
          </p:cNvPr>
          <p:cNvSpPr/>
          <p:nvPr/>
        </p:nvSpPr>
        <p:spPr>
          <a:xfrm>
            <a:off x="1965960" y="352856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EE93E1C5-2BAC-E482-FF14-EB9DFED3BE29}"/>
              </a:ext>
            </a:extLst>
          </p:cNvPr>
          <p:cNvSpPr/>
          <p:nvPr/>
        </p:nvSpPr>
        <p:spPr>
          <a:xfrm>
            <a:off x="2843784" y="3473704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CFF28B9F-EB67-5424-23A1-C6A6B9D49E70}"/>
              </a:ext>
            </a:extLst>
          </p:cNvPr>
          <p:cNvSpPr/>
          <p:nvPr/>
        </p:nvSpPr>
        <p:spPr>
          <a:xfrm>
            <a:off x="2843784" y="352856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522AB84E-D8ED-67D2-848A-4B4D12BB5C96}"/>
              </a:ext>
            </a:extLst>
          </p:cNvPr>
          <p:cNvSpPr/>
          <p:nvPr/>
        </p:nvSpPr>
        <p:spPr>
          <a:xfrm>
            <a:off x="2752344" y="3473704"/>
            <a:ext cx="0" cy="43891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20D9AE2A-6EBC-AA86-EA93-7F4956E0F27B}"/>
              </a:ext>
            </a:extLst>
          </p:cNvPr>
          <p:cNvSpPr/>
          <p:nvPr/>
        </p:nvSpPr>
        <p:spPr>
          <a:xfrm>
            <a:off x="1344168" y="41777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Before pivoting</a:t>
            </a:r>
            <a:endParaRPr lang="en-US" sz="13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7602CD5E-4189-DFDE-1DA7-0173285658E3}"/>
              </a:ext>
            </a:extLst>
          </p:cNvPr>
          <p:cNvSpPr/>
          <p:nvPr/>
        </p:nvSpPr>
        <p:spPr>
          <a:xfrm>
            <a:off x="5710936" y="3474720"/>
            <a:ext cx="9601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44F29EB8-9670-5356-528C-9067884B5C7B}"/>
              </a:ext>
            </a:extLst>
          </p:cNvPr>
          <p:cNvSpPr/>
          <p:nvPr/>
        </p:nvSpPr>
        <p:spPr>
          <a:xfrm>
            <a:off x="7388352" y="2990088"/>
            <a:ext cx="713232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BC67D227-433A-D7F7-17FF-778C9EF43AC9}"/>
              </a:ext>
            </a:extLst>
          </p:cNvPr>
          <p:cNvSpPr/>
          <p:nvPr/>
        </p:nvSpPr>
        <p:spPr>
          <a:xfrm>
            <a:off x="7388352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E5BD151C-8232-B6B5-7BC9-B520624AFCE1}"/>
              </a:ext>
            </a:extLst>
          </p:cNvPr>
          <p:cNvSpPr/>
          <p:nvPr/>
        </p:nvSpPr>
        <p:spPr>
          <a:xfrm>
            <a:off x="8101584" y="2990088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F7446BE3-9D57-D25A-5215-FEEF19ED8007}"/>
              </a:ext>
            </a:extLst>
          </p:cNvPr>
          <p:cNvSpPr/>
          <p:nvPr/>
        </p:nvSpPr>
        <p:spPr>
          <a:xfrm>
            <a:off x="8101584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A956F4ED-FB89-7360-48E3-80DD203021B3}"/>
              </a:ext>
            </a:extLst>
          </p:cNvPr>
          <p:cNvSpPr/>
          <p:nvPr/>
        </p:nvSpPr>
        <p:spPr>
          <a:xfrm>
            <a:off x="8979408" y="2990088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28">
            <a:extLst>
              <a:ext uri="{FF2B5EF4-FFF2-40B4-BE49-F238E27FC236}">
                <a16:creationId xmlns:a16="http://schemas.microsoft.com/office/drawing/2014/main" id="{1CE9DD99-FBD1-C2C3-F2A0-C9DE45EAA51A}"/>
              </a:ext>
            </a:extLst>
          </p:cNvPr>
          <p:cNvSpPr/>
          <p:nvPr/>
        </p:nvSpPr>
        <p:spPr>
          <a:xfrm>
            <a:off x="897940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71" name="Shape 29">
            <a:extLst>
              <a:ext uri="{FF2B5EF4-FFF2-40B4-BE49-F238E27FC236}">
                <a16:creationId xmlns:a16="http://schemas.microsoft.com/office/drawing/2014/main" id="{15350D48-74AA-453E-8835-C0A97AD27EC5}"/>
              </a:ext>
            </a:extLst>
          </p:cNvPr>
          <p:cNvSpPr/>
          <p:nvPr/>
        </p:nvSpPr>
        <p:spPr>
          <a:xfrm>
            <a:off x="8876792" y="3029712"/>
            <a:ext cx="0" cy="43891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30">
            <a:extLst>
              <a:ext uri="{FF2B5EF4-FFF2-40B4-BE49-F238E27FC236}">
                <a16:creationId xmlns:a16="http://schemas.microsoft.com/office/drawing/2014/main" id="{7482266D-0C54-272E-2390-D65F33524FBF}"/>
              </a:ext>
            </a:extLst>
          </p:cNvPr>
          <p:cNvSpPr/>
          <p:nvPr/>
        </p:nvSpPr>
        <p:spPr>
          <a:xfrm>
            <a:off x="7388352" y="3429000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6AAB2F32-20D7-D9FD-C927-73D5CC4F081E}"/>
              </a:ext>
            </a:extLst>
          </p:cNvPr>
          <p:cNvSpPr/>
          <p:nvPr/>
        </p:nvSpPr>
        <p:spPr>
          <a:xfrm>
            <a:off x="7388352" y="34838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1500" dirty="0"/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4D10340F-A096-7931-CE25-308F48297C13}"/>
              </a:ext>
            </a:extLst>
          </p:cNvPr>
          <p:cNvSpPr/>
          <p:nvPr/>
        </p:nvSpPr>
        <p:spPr>
          <a:xfrm>
            <a:off x="8101584" y="3429000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1A25E4EF-A382-3318-7E06-31EBD3F9588B}"/>
              </a:ext>
            </a:extLst>
          </p:cNvPr>
          <p:cNvSpPr/>
          <p:nvPr/>
        </p:nvSpPr>
        <p:spPr>
          <a:xfrm>
            <a:off x="8083297" y="36108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6" name="Shape 34">
            <a:extLst>
              <a:ext uri="{FF2B5EF4-FFF2-40B4-BE49-F238E27FC236}">
                <a16:creationId xmlns:a16="http://schemas.microsoft.com/office/drawing/2014/main" id="{B411092B-E74B-69BB-79C1-9D3D7DDD7B2C}"/>
              </a:ext>
            </a:extLst>
          </p:cNvPr>
          <p:cNvSpPr/>
          <p:nvPr/>
        </p:nvSpPr>
        <p:spPr>
          <a:xfrm>
            <a:off x="8979408" y="3429000"/>
            <a:ext cx="7132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D0C9C353-6134-0E34-942A-0F2293C7E5F1}"/>
              </a:ext>
            </a:extLst>
          </p:cNvPr>
          <p:cNvSpPr/>
          <p:nvPr/>
        </p:nvSpPr>
        <p:spPr>
          <a:xfrm>
            <a:off x="8979408" y="34838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1.0001</a:t>
            </a:r>
            <a:endParaRPr lang="en-US" sz="1500" dirty="0"/>
          </a:p>
        </p:txBody>
      </p:sp>
      <p:sp>
        <p:nvSpPr>
          <p:cNvPr id="78" name="Shape 36">
            <a:extLst>
              <a:ext uri="{FF2B5EF4-FFF2-40B4-BE49-F238E27FC236}">
                <a16:creationId xmlns:a16="http://schemas.microsoft.com/office/drawing/2014/main" id="{A39AE37B-3797-E6F0-5E01-D217165B2107}"/>
              </a:ext>
            </a:extLst>
          </p:cNvPr>
          <p:cNvSpPr/>
          <p:nvPr/>
        </p:nvSpPr>
        <p:spPr>
          <a:xfrm>
            <a:off x="8887968" y="3429000"/>
            <a:ext cx="0" cy="43891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08FA18F5-2A4C-3EDB-9F0E-DFFD12ABFD2F}"/>
              </a:ext>
            </a:extLst>
          </p:cNvPr>
          <p:cNvSpPr/>
          <p:nvPr/>
        </p:nvSpPr>
        <p:spPr>
          <a:xfrm>
            <a:off x="7353808" y="40960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After row swap</a:t>
            </a:r>
            <a:endParaRPr lang="en-US" sz="1300" dirty="0"/>
          </a:p>
        </p:txBody>
      </p:sp>
      <p:sp>
        <p:nvSpPr>
          <p:cNvPr id="80" name="Shape 38">
            <a:extLst>
              <a:ext uri="{FF2B5EF4-FFF2-40B4-BE49-F238E27FC236}">
                <a16:creationId xmlns:a16="http://schemas.microsoft.com/office/drawing/2014/main" id="{BCA426C4-B9AD-9AD0-0A47-1F14FFBD587F}"/>
              </a:ext>
            </a:extLst>
          </p:cNvPr>
          <p:cNvSpPr/>
          <p:nvPr/>
        </p:nvSpPr>
        <p:spPr>
          <a:xfrm>
            <a:off x="790448" y="4909312"/>
            <a:ext cx="3611880" cy="1444752"/>
          </a:xfrm>
          <a:prstGeom prst="roundRect">
            <a:avLst>
              <a:gd name="adj" fmla="val 3265"/>
            </a:avLst>
          </a:prstGeom>
          <a:solidFill>
            <a:srgbClr val="DBEAFE"/>
          </a:solidFill>
          <a:ln w="12700">
            <a:solidFill>
              <a:srgbClr val="2563EB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6401BF41-A691-CE7B-CBD3-DED15AF5B999}"/>
              </a:ext>
            </a:extLst>
          </p:cNvPr>
          <p:cNvSpPr/>
          <p:nvPr/>
        </p:nvSpPr>
        <p:spPr>
          <a:xfrm>
            <a:off x="955040" y="5019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Selection rule</a:t>
            </a:r>
            <a:endParaRPr lang="en-US" sz="1400" dirty="0"/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C1EE5A9A-D4AF-0610-87F6-EC3583D280BB}"/>
              </a:ext>
            </a:extLst>
          </p:cNvPr>
          <p:cNvSpPr/>
          <p:nvPr/>
        </p:nvSpPr>
        <p:spPr>
          <a:xfrm>
            <a:off x="973327" y="5357368"/>
            <a:ext cx="32918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In column k, choose the row with the largest absolute value below or at the diagonal. Swap that row into the pivot position before elimination.</a:t>
            </a:r>
            <a:endParaRPr lang="en-US" sz="1320" dirty="0"/>
          </a:p>
        </p:txBody>
      </p:sp>
    </p:spTree>
    <p:extLst>
      <p:ext uri="{BB962C8B-B14F-4D97-AF65-F5344CB8AC3E}">
        <p14:creationId xmlns:p14="http://schemas.microsoft.com/office/powerpoint/2010/main" val="243038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01308" y="379155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of this project</a:t>
            </a:r>
            <a:endParaRPr lang="en-US" sz="27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CE6B92-7E71-8DAA-7740-1E96476C5727}"/>
              </a:ext>
            </a:extLst>
          </p:cNvPr>
          <p:cNvSpPr/>
          <p:nvPr/>
        </p:nvSpPr>
        <p:spPr>
          <a:xfrm>
            <a:off x="301308" y="1191416"/>
            <a:ext cx="11247120" cy="4206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29B544-D44D-44A8-DAC7-2689D6D69DB6}"/>
              </a:ext>
            </a:extLst>
          </p:cNvPr>
          <p:cNvSpPr txBox="1"/>
          <p:nvPr/>
        </p:nvSpPr>
        <p:spPr>
          <a:xfrm>
            <a:off x="457200" y="1266485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FFFFFF"/>
                </a:solidFill>
              </a:rPr>
              <a:t>Goal:  Build an interactive tool that solves Ax = b step-by-step, validates inputs, handles edge cases, and </a:t>
            </a:r>
            <a:r>
              <a:rPr sz="1400" dirty="0" err="1">
                <a:solidFill>
                  <a:srgbClr val="FFFFFF"/>
                </a:solidFill>
              </a:rPr>
              <a:t>visualises</a:t>
            </a:r>
            <a:r>
              <a:rPr sz="1400" dirty="0">
                <a:solidFill>
                  <a:srgbClr val="FFFFFF"/>
                </a:solidFill>
              </a:rPr>
              <a:t> the solution.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77B91D-24CE-EB29-6C20-2709BADB29B5}"/>
              </a:ext>
            </a:extLst>
          </p:cNvPr>
          <p:cNvSpPr txBox="1"/>
          <p:nvPr/>
        </p:nvSpPr>
        <p:spPr>
          <a:xfrm>
            <a:off x="367348" y="1638341"/>
            <a:ext cx="112471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475669"/>
                </a:solidFill>
              </a:rPr>
              <a:t>▸ Implement Gaussian Elimination with Partial Pivoting</a:t>
            </a:r>
          </a:p>
          <a:p>
            <a:pPr algn="l"/>
            <a:r>
              <a:rPr sz="1400" dirty="0">
                <a:solidFill>
                  <a:srgbClr val="475669"/>
                </a:solidFill>
              </a:rPr>
              <a:t>▸ Show every row-operation step with the augmented matrix</a:t>
            </a:r>
          </a:p>
          <a:p>
            <a:pPr algn="l"/>
            <a:r>
              <a:rPr sz="1400" dirty="0">
                <a:solidFill>
                  <a:srgbClr val="475669"/>
                </a:solidFill>
              </a:rPr>
              <a:t>▸ Detect singular / ill-conditioned systems with clear messages</a:t>
            </a:r>
          </a:p>
          <a:p>
            <a:pPr algn="l"/>
            <a:r>
              <a:rPr sz="1400" dirty="0">
                <a:solidFill>
                  <a:srgbClr val="475669"/>
                </a:solidFill>
              </a:rPr>
              <a:t>▸ Display solution values as an interactive bar chart</a:t>
            </a:r>
          </a:p>
          <a:p>
            <a:pPr algn="l"/>
            <a:r>
              <a:rPr sz="1400" dirty="0">
                <a:solidFill>
                  <a:srgbClr val="475669"/>
                </a:solidFill>
              </a:rPr>
              <a:t>▸ Expose the solver through a REST API for a React front-end</a:t>
            </a:r>
          </a:p>
        </p:txBody>
      </p:sp>
      <p:sp>
        <p:nvSpPr>
          <p:cNvPr id="99" name="Text 4">
            <a:extLst>
              <a:ext uri="{FF2B5EF4-FFF2-40B4-BE49-F238E27FC236}">
                <a16:creationId xmlns:a16="http://schemas.microsoft.com/office/drawing/2014/main" id="{4000C1D5-C955-9616-F2A2-3CA4E6C7C29F}"/>
              </a:ext>
            </a:extLst>
          </p:cNvPr>
          <p:cNvSpPr/>
          <p:nvPr/>
        </p:nvSpPr>
        <p:spPr>
          <a:xfrm>
            <a:off x="402336" y="2792652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</a:t>
            </a:r>
            <a:endParaRPr lang="en-US" sz="2700" dirty="0"/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6FA81470-3363-8FE0-8E86-F78D8015E329}"/>
              </a:ext>
            </a:extLst>
          </p:cNvPr>
          <p:cNvSpPr/>
          <p:nvPr/>
        </p:nvSpPr>
        <p:spPr>
          <a:xfrm>
            <a:off x="420624" y="325780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Runtime flow when the user clicks Solve</a:t>
            </a:r>
            <a:endParaRPr lang="en-US" sz="1150" dirty="0"/>
          </a:p>
        </p:txBody>
      </p:sp>
      <p:sp>
        <p:nvSpPr>
          <p:cNvPr id="102" name="Shape 7">
            <a:extLst>
              <a:ext uri="{FF2B5EF4-FFF2-40B4-BE49-F238E27FC236}">
                <a16:creationId xmlns:a16="http://schemas.microsoft.com/office/drawing/2014/main" id="{35F5DFC4-D0E4-B9C7-452B-B672F38DC7D2}"/>
              </a:ext>
            </a:extLst>
          </p:cNvPr>
          <p:cNvSpPr/>
          <p:nvPr/>
        </p:nvSpPr>
        <p:spPr>
          <a:xfrm>
            <a:off x="813816" y="3586942"/>
            <a:ext cx="1508760" cy="41148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03" name="Text 8">
            <a:extLst>
              <a:ext uri="{FF2B5EF4-FFF2-40B4-BE49-F238E27FC236}">
                <a16:creationId xmlns:a16="http://schemas.microsoft.com/office/drawing/2014/main" id="{9E1A9A64-2510-E2A0-D744-E560E3940B35}"/>
              </a:ext>
            </a:extLst>
          </p:cNvPr>
          <p:cNvSpPr/>
          <p:nvPr/>
        </p:nvSpPr>
        <p:spPr>
          <a:xfrm>
            <a:off x="813816" y="3733246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04" name="Shape 9">
            <a:extLst>
              <a:ext uri="{FF2B5EF4-FFF2-40B4-BE49-F238E27FC236}">
                <a16:creationId xmlns:a16="http://schemas.microsoft.com/office/drawing/2014/main" id="{06EC7E2A-DF2E-38FE-2088-2A5047C90D21}"/>
              </a:ext>
            </a:extLst>
          </p:cNvPr>
          <p:cNvSpPr/>
          <p:nvPr/>
        </p:nvSpPr>
        <p:spPr>
          <a:xfrm flipH="1">
            <a:off x="1554480" y="4089862"/>
            <a:ext cx="18288" cy="2103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F8667659-B1D4-AC15-9F71-613177997B82}"/>
              </a:ext>
            </a:extLst>
          </p:cNvPr>
          <p:cNvSpPr/>
          <p:nvPr/>
        </p:nvSpPr>
        <p:spPr>
          <a:xfrm>
            <a:off x="3557016" y="3586942"/>
            <a:ext cx="1508760" cy="41148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06" name="Text 11">
            <a:extLst>
              <a:ext uri="{FF2B5EF4-FFF2-40B4-BE49-F238E27FC236}">
                <a16:creationId xmlns:a16="http://schemas.microsoft.com/office/drawing/2014/main" id="{DDB321BC-F343-D517-44D3-7C6260106BAB}"/>
              </a:ext>
            </a:extLst>
          </p:cNvPr>
          <p:cNvSpPr/>
          <p:nvPr/>
        </p:nvSpPr>
        <p:spPr>
          <a:xfrm>
            <a:off x="3557016" y="3733246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UI</a:t>
            </a:r>
            <a:endParaRPr lang="en-US" sz="1050" dirty="0"/>
          </a:p>
        </p:txBody>
      </p:sp>
      <p:sp>
        <p:nvSpPr>
          <p:cNvPr id="107" name="Shape 12">
            <a:extLst>
              <a:ext uri="{FF2B5EF4-FFF2-40B4-BE49-F238E27FC236}">
                <a16:creationId xmlns:a16="http://schemas.microsoft.com/office/drawing/2014/main" id="{A4BBEAF5-7177-AD2C-F708-7478B4A11A5B}"/>
              </a:ext>
            </a:extLst>
          </p:cNvPr>
          <p:cNvSpPr/>
          <p:nvPr/>
        </p:nvSpPr>
        <p:spPr>
          <a:xfrm>
            <a:off x="4315968" y="4089862"/>
            <a:ext cx="45720" cy="205366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3">
            <a:extLst>
              <a:ext uri="{FF2B5EF4-FFF2-40B4-BE49-F238E27FC236}">
                <a16:creationId xmlns:a16="http://schemas.microsoft.com/office/drawing/2014/main" id="{33D724A7-F07A-D043-7637-FD51765C0606}"/>
              </a:ext>
            </a:extLst>
          </p:cNvPr>
          <p:cNvSpPr/>
          <p:nvPr/>
        </p:nvSpPr>
        <p:spPr>
          <a:xfrm>
            <a:off x="6300216" y="3586942"/>
            <a:ext cx="1508760" cy="41148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09" name="Text 14">
            <a:extLst>
              <a:ext uri="{FF2B5EF4-FFF2-40B4-BE49-F238E27FC236}">
                <a16:creationId xmlns:a16="http://schemas.microsoft.com/office/drawing/2014/main" id="{BEDB4E0C-1C0D-8F28-05C9-35D39022F059}"/>
              </a:ext>
            </a:extLst>
          </p:cNvPr>
          <p:cNvSpPr/>
          <p:nvPr/>
        </p:nvSpPr>
        <p:spPr>
          <a:xfrm>
            <a:off x="6300216" y="3733246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</a:t>
            </a:r>
            <a:endParaRPr lang="en-US" sz="1050" dirty="0"/>
          </a:p>
        </p:txBody>
      </p:sp>
      <p:sp>
        <p:nvSpPr>
          <p:cNvPr id="110" name="Shape 15">
            <a:extLst>
              <a:ext uri="{FF2B5EF4-FFF2-40B4-BE49-F238E27FC236}">
                <a16:creationId xmlns:a16="http://schemas.microsoft.com/office/drawing/2014/main" id="{989884E6-69B6-F0FF-EAA6-EB836D8303D1}"/>
              </a:ext>
            </a:extLst>
          </p:cNvPr>
          <p:cNvSpPr/>
          <p:nvPr/>
        </p:nvSpPr>
        <p:spPr>
          <a:xfrm flipH="1">
            <a:off x="6995160" y="4283124"/>
            <a:ext cx="64008" cy="2195721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1" name="Shape 16">
            <a:extLst>
              <a:ext uri="{FF2B5EF4-FFF2-40B4-BE49-F238E27FC236}">
                <a16:creationId xmlns:a16="http://schemas.microsoft.com/office/drawing/2014/main" id="{9E8D9454-0A0F-059C-1BFD-A43EA7B72AE9}"/>
              </a:ext>
            </a:extLst>
          </p:cNvPr>
          <p:cNvSpPr/>
          <p:nvPr/>
        </p:nvSpPr>
        <p:spPr>
          <a:xfrm>
            <a:off x="9043416" y="3586942"/>
            <a:ext cx="1508760" cy="41148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12" name="Text 17">
            <a:extLst>
              <a:ext uri="{FF2B5EF4-FFF2-40B4-BE49-F238E27FC236}">
                <a16:creationId xmlns:a16="http://schemas.microsoft.com/office/drawing/2014/main" id="{DAF65DEE-0246-C039-33AF-937E08DCC581}"/>
              </a:ext>
            </a:extLst>
          </p:cNvPr>
          <p:cNvSpPr/>
          <p:nvPr/>
        </p:nvSpPr>
        <p:spPr>
          <a:xfrm>
            <a:off x="9043416" y="3733246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Solver Engine</a:t>
            </a:r>
            <a:endParaRPr lang="en-US" sz="1050" dirty="0"/>
          </a:p>
        </p:txBody>
      </p:sp>
      <p:sp>
        <p:nvSpPr>
          <p:cNvPr id="113" name="Shape 18">
            <a:extLst>
              <a:ext uri="{FF2B5EF4-FFF2-40B4-BE49-F238E27FC236}">
                <a16:creationId xmlns:a16="http://schemas.microsoft.com/office/drawing/2014/main" id="{A03C1AD4-7CB8-D0AA-E509-B7CB227600B0}"/>
              </a:ext>
            </a:extLst>
          </p:cNvPr>
          <p:cNvSpPr/>
          <p:nvPr/>
        </p:nvSpPr>
        <p:spPr>
          <a:xfrm flipH="1">
            <a:off x="9738360" y="4089862"/>
            <a:ext cx="64008" cy="2103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4" name="Shape 19">
            <a:extLst>
              <a:ext uri="{FF2B5EF4-FFF2-40B4-BE49-F238E27FC236}">
                <a16:creationId xmlns:a16="http://schemas.microsoft.com/office/drawing/2014/main" id="{671B475C-0A7C-5112-55B9-34860677AA17}"/>
              </a:ext>
            </a:extLst>
          </p:cNvPr>
          <p:cNvSpPr/>
          <p:nvPr/>
        </p:nvSpPr>
        <p:spPr>
          <a:xfrm>
            <a:off x="1563624" y="4547062"/>
            <a:ext cx="2743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5" name="Text 20">
            <a:extLst>
              <a:ext uri="{FF2B5EF4-FFF2-40B4-BE49-F238E27FC236}">
                <a16:creationId xmlns:a16="http://schemas.microsoft.com/office/drawing/2014/main" id="{1733222A-DDD3-A694-C169-4FA68363264E}"/>
              </a:ext>
            </a:extLst>
          </p:cNvPr>
          <p:cNvSpPr/>
          <p:nvPr/>
        </p:nvSpPr>
        <p:spPr>
          <a:xfrm>
            <a:off x="1655064" y="434589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enter matrix + click Solve</a:t>
            </a:r>
            <a:endParaRPr lang="en-US" sz="950" dirty="0"/>
          </a:p>
        </p:txBody>
      </p:sp>
      <p:sp>
        <p:nvSpPr>
          <p:cNvPr id="116" name="Shape 21">
            <a:extLst>
              <a:ext uri="{FF2B5EF4-FFF2-40B4-BE49-F238E27FC236}">
                <a16:creationId xmlns:a16="http://schemas.microsoft.com/office/drawing/2014/main" id="{42A1063D-1EC2-0D9B-FF7F-49D6C7C4F9E0}"/>
              </a:ext>
            </a:extLst>
          </p:cNvPr>
          <p:cNvSpPr/>
          <p:nvPr/>
        </p:nvSpPr>
        <p:spPr>
          <a:xfrm>
            <a:off x="4306824" y="5095702"/>
            <a:ext cx="2743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17" name="Text 22">
            <a:extLst>
              <a:ext uri="{FF2B5EF4-FFF2-40B4-BE49-F238E27FC236}">
                <a16:creationId xmlns:a16="http://schemas.microsoft.com/office/drawing/2014/main" id="{B3FAAC1C-E1CF-B523-7154-E76E866CD9EC}"/>
              </a:ext>
            </a:extLst>
          </p:cNvPr>
          <p:cNvSpPr/>
          <p:nvPr/>
        </p:nvSpPr>
        <p:spPr>
          <a:xfrm>
            <a:off x="4398264" y="489453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POST /solve { matrix }</a:t>
            </a:r>
            <a:endParaRPr lang="en-US" sz="950" dirty="0"/>
          </a:p>
        </p:txBody>
      </p:sp>
      <p:sp>
        <p:nvSpPr>
          <p:cNvPr id="118" name="Shape 23">
            <a:extLst>
              <a:ext uri="{FF2B5EF4-FFF2-40B4-BE49-F238E27FC236}">
                <a16:creationId xmlns:a16="http://schemas.microsoft.com/office/drawing/2014/main" id="{58FC3FA9-58B7-1896-126B-E3F65DF6BA09}"/>
              </a:ext>
            </a:extLst>
          </p:cNvPr>
          <p:cNvSpPr/>
          <p:nvPr/>
        </p:nvSpPr>
        <p:spPr>
          <a:xfrm>
            <a:off x="7050024" y="5644342"/>
            <a:ext cx="2743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9" name="Text 24">
            <a:extLst>
              <a:ext uri="{FF2B5EF4-FFF2-40B4-BE49-F238E27FC236}">
                <a16:creationId xmlns:a16="http://schemas.microsoft.com/office/drawing/2014/main" id="{76D76276-7668-56FC-0450-0798C6A82DC0}"/>
              </a:ext>
            </a:extLst>
          </p:cNvPr>
          <p:cNvSpPr/>
          <p:nvPr/>
        </p:nvSpPr>
        <p:spPr>
          <a:xfrm>
            <a:off x="7141464" y="544317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gaussian_elimination(matrix)</a:t>
            </a:r>
            <a:endParaRPr lang="en-US" sz="950" dirty="0"/>
          </a:p>
        </p:txBody>
      </p:sp>
      <p:sp>
        <p:nvSpPr>
          <p:cNvPr id="120" name="Shape 25">
            <a:extLst>
              <a:ext uri="{FF2B5EF4-FFF2-40B4-BE49-F238E27FC236}">
                <a16:creationId xmlns:a16="http://schemas.microsoft.com/office/drawing/2014/main" id="{1B1988D9-DAE1-D6B0-429A-4608BFD8EF6B}"/>
              </a:ext>
            </a:extLst>
          </p:cNvPr>
          <p:cNvSpPr/>
          <p:nvPr/>
        </p:nvSpPr>
        <p:spPr>
          <a:xfrm>
            <a:off x="9793224" y="6192982"/>
            <a:ext cx="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21" name="Text 26">
            <a:extLst>
              <a:ext uri="{FF2B5EF4-FFF2-40B4-BE49-F238E27FC236}">
                <a16:creationId xmlns:a16="http://schemas.microsoft.com/office/drawing/2014/main" id="{3697B13D-3B9E-B5C7-7002-C7D59FD03895}"/>
              </a:ext>
            </a:extLst>
          </p:cNvPr>
          <p:cNvSpPr/>
          <p:nvPr/>
        </p:nvSpPr>
        <p:spPr>
          <a:xfrm>
            <a:off x="7141464" y="599181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return solution + steps</a:t>
            </a:r>
            <a:endParaRPr lang="en-US" sz="950" dirty="0"/>
          </a:p>
        </p:txBody>
      </p:sp>
      <p:sp>
        <p:nvSpPr>
          <p:cNvPr id="122" name="Shape 27">
            <a:extLst>
              <a:ext uri="{FF2B5EF4-FFF2-40B4-BE49-F238E27FC236}">
                <a16:creationId xmlns:a16="http://schemas.microsoft.com/office/drawing/2014/main" id="{26489852-749C-156D-4B0D-98AF2323A723}"/>
              </a:ext>
            </a:extLst>
          </p:cNvPr>
          <p:cNvSpPr/>
          <p:nvPr/>
        </p:nvSpPr>
        <p:spPr>
          <a:xfrm>
            <a:off x="7050024" y="6934884"/>
            <a:ext cx="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23" name="Text 28">
            <a:extLst>
              <a:ext uri="{FF2B5EF4-FFF2-40B4-BE49-F238E27FC236}">
                <a16:creationId xmlns:a16="http://schemas.microsoft.com/office/drawing/2014/main" id="{FF3A311B-AD27-9DE7-9B55-73460E6F6217}"/>
              </a:ext>
            </a:extLst>
          </p:cNvPr>
          <p:cNvSpPr/>
          <p:nvPr/>
        </p:nvSpPr>
        <p:spPr>
          <a:xfrm>
            <a:off x="4315968" y="579844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JSON response</a:t>
            </a:r>
            <a:endParaRPr lang="en-US" sz="950" dirty="0"/>
          </a:p>
        </p:txBody>
      </p:sp>
      <p:sp>
        <p:nvSpPr>
          <p:cNvPr id="124" name="Text 29">
            <a:extLst>
              <a:ext uri="{FF2B5EF4-FFF2-40B4-BE49-F238E27FC236}">
                <a16:creationId xmlns:a16="http://schemas.microsoft.com/office/drawing/2014/main" id="{54640DB8-33A6-C3F5-86D8-62FCB5280828}"/>
              </a:ext>
            </a:extLst>
          </p:cNvPr>
          <p:cNvSpPr/>
          <p:nvPr/>
        </p:nvSpPr>
        <p:spPr>
          <a:xfrm>
            <a:off x="457200" y="63830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32B"/>
                </a:solidFill>
              </a:rPr>
              <a:t>The frontend parses the JSON response and renders matrices, pivot highlights and final answers.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Methodology — Input Validation &amp;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Checking Data Before Every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5087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348" y="1508760"/>
            <a:ext cx="20116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388" y="160020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Empty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88" y="198424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n == 0 → ValueError: 'Matrix must have at least one row'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0948" y="15087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10948" y="1508760"/>
            <a:ext cx="20116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30988" y="160020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Row length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0988" y="198424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len(row) ≠ n+1 → clear message with row number and expected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348" y="27432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7348" y="2743200"/>
            <a:ext cx="20116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388" y="283464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Size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388" y="321868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n &gt; 100 → rejected to prevent resource exhaustion (DoS guard)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0948" y="27432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10948" y="2743200"/>
            <a:ext cx="20116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0988" y="283464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Singular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0988" y="321868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|pivot| &lt; 1e-12 → 'no unique solution'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348" y="39776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7348" y="3977639"/>
            <a:ext cx="20116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388" y="4069079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Ill-conditioned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388" y="445312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cond(A) &gt; 1e6 → warning step added to the UI (non-fatal)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0948" y="39776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10948" y="3977639"/>
            <a:ext cx="201168" cy="109728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0988" y="4069079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7474"/>
                </a:solidFill>
              </a:rPr>
              <a:t>Frontend 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0988" y="445312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Each cell validated as finite number before POST request is 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348" y="52120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7348" y="5212080"/>
            <a:ext cx="20116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7388" y="530352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803D"/>
                </a:solidFill>
              </a:rPr>
              <a:t>API 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388" y="568756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30-second AbortController timeout on every fetch 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0948" y="52120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10948" y="5212080"/>
            <a:ext cx="20116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0988" y="530352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803D"/>
                </a:solidFill>
              </a:rPr>
              <a:t>Rate limiting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0988" y="568756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30 requests per minute per IP — simple in-memory middleware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request and response examples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How the frontend and backend exchange matrix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9164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27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691640"/>
            <a:ext cx="53035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7647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17647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17647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174193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API request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8680" y="2075688"/>
            <a:ext cx="493776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/solve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"matrix":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[2, 1, -1, 8],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[-3, -1, 2, -11],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[-2, 1, 2, -3]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0749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27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691640"/>
            <a:ext cx="50749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17647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17647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7647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741932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API response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75688"/>
            <a:ext cx="470916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"solution": [2.0, 3.0, -1.0],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"variables": ["x1", "x2", "x3"],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"n": 3,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{"type": "initial", "matrix": [...]},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{"type": "pivot", "description": "..."},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{"type": "back_substitution", "back_steps": [...]}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Backend — solver.py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Core Solver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548" y="3170271"/>
            <a:ext cx="11336972" cy="3614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3217835"/>
            <a:ext cx="585565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7DD3FC"/>
                </a:solidFill>
                <a:latin typeface="Courier New"/>
              </a:rPr>
              <a:t>def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gaussian_elimination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(matrix: List[List[float]]) -&gt;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dict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n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len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(matrix)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np.array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(matrix,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dtype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=float)          # convert to NumPy</a:t>
            </a:r>
          </a:p>
          <a:p>
            <a:endParaRPr sz="900" dirty="0">
              <a:solidFill>
                <a:srgbClr val="7DD3FC"/>
              </a:solidFill>
              <a:latin typeface="Courier New"/>
            </a:endParaRP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# ① Condition number warning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if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np.linalg.cond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[:, :n]) &gt; 1e6: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steps.append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({"type": "warning", ...})</a:t>
            </a:r>
          </a:p>
          <a:p>
            <a:endParaRPr sz="900" dirty="0">
              <a:solidFill>
                <a:srgbClr val="7DD3FC"/>
              </a:solidFill>
              <a:latin typeface="Courier New"/>
            </a:endParaRP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# ② Forward elimination with partial pivoting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for col in range(n):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 = col +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np.argmax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np.abs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[col:, col]))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if abs(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, col]) &lt; 1e-12: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    raise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ValueError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("Matrix is singular — no unique solution.")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if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 != col: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   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[[col,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]]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pivot_row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, col]]    # swap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for row in range(col + 1, n):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    factor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[row, col] /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[col, col]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   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[row]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[row] - factor *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[col]          # eliminate</a:t>
            </a:r>
          </a:p>
          <a:p>
            <a:endParaRPr sz="900" dirty="0">
              <a:solidFill>
                <a:srgbClr val="7DD3FC"/>
              </a:solidFill>
              <a:latin typeface="Courier New"/>
            </a:endParaRP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# ③ Back substitution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x =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np.zeros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(n)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for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 in range(n - 1, -1, -1):</a:t>
            </a: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    x[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] = 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, n] - np.dot(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, i+1:n], x[i+1:n])) /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aug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[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, </a:t>
            </a:r>
            <a:r>
              <a:rPr sz="900" dirty="0" err="1">
                <a:solidFill>
                  <a:srgbClr val="7DD3FC"/>
                </a:solidFill>
                <a:latin typeface="Courier New"/>
              </a:rPr>
              <a:t>i</a:t>
            </a:r>
            <a:r>
              <a:rPr sz="900" dirty="0">
                <a:solidFill>
                  <a:srgbClr val="7DD3FC"/>
                </a:solidFill>
                <a:latin typeface="Courier New"/>
              </a:rPr>
              <a:t>]</a:t>
            </a:r>
          </a:p>
          <a:p>
            <a:endParaRPr sz="900" dirty="0">
              <a:solidFill>
                <a:srgbClr val="7DD3FC"/>
              </a:solidFill>
              <a:latin typeface="Courier New"/>
            </a:endParaRPr>
          </a:p>
          <a:p>
            <a:r>
              <a:rPr sz="900" dirty="0">
                <a:solidFill>
                  <a:srgbClr val="7DD3FC"/>
                </a:solidFill>
                <a:latin typeface="Courier New"/>
              </a:rPr>
              <a:t>    return {"solution": [...], "variables": [...], "steps": [...], "n": n}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117295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Full solver flow used in the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39112" y="1855555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6552" y="1855555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93992" y="1855555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71432" y="1855555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16752" y="2175595"/>
            <a:ext cx="0" cy="237537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" y="1489795"/>
            <a:ext cx="150876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" y="161781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Input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" y="1892131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[A | b]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62072" y="1489795"/>
            <a:ext cx="15544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9731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35224" y="1617811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316"/>
                </a:solidFill>
              </a:rPr>
              <a:t>Validate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53512" y="189213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shape &amp; limits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39512" y="1489795"/>
            <a:ext cx="15544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12664" y="1617811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C3AED"/>
                </a:solidFill>
              </a:rPr>
              <a:t>Pivot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30952" y="189213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row swap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16952" y="1489795"/>
            <a:ext cx="15544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4B8A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90104" y="1617811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B8A6"/>
                </a:solidFill>
              </a:rPr>
              <a:t>Eliminate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08392" y="189213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below pivot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94392" y="1489795"/>
            <a:ext cx="15544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67544" y="1617811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</a:rPr>
              <a:t>Upper U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85832" y="189213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triangular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0" y="2449709"/>
            <a:ext cx="2194560" cy="61395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0" y="2667351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Back substitute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74920" y="349212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solve xn → x1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2823470"/>
            <a:ext cx="11430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49640" y="2476670"/>
            <a:ext cx="2011680" cy="5869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9731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22792" y="260468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316"/>
                </a:solidFill>
              </a:rPr>
              <a:t>Return JSON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41080" y="281807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solution + steps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Output Snapshot — Step 1 &amp; 2: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User Interface — Entering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46304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50876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Step 1 — Choose System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228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2×2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6028" y="1993392"/>
            <a:ext cx="594360" cy="45720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60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3×3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1828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18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4×4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7628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76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5×5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3428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34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6×6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9227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9227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7×7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5028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5028" y="202996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75669"/>
                </a:solidFill>
              </a:rPr>
              <a:t>8×8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348" y="283464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508" y="288036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Step 2 — Enter Augmented Matrix [A | b]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228" y="3337560"/>
            <a:ext cx="749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0036" y="3337561"/>
            <a:ext cx="74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474"/>
                </a:solidFill>
              </a:rPr>
              <a:t>x₁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9843" y="3337561"/>
            <a:ext cx="74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474"/>
                </a:solidFill>
              </a:rPr>
              <a:t>x₂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9652" y="3337561"/>
            <a:ext cx="74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474"/>
                </a:solidFill>
              </a:rPr>
              <a:t>x₃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9460" y="3337561"/>
            <a:ext cx="74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474"/>
                </a:solidFill>
              </a:rPr>
              <a:t>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9267" y="3337561"/>
            <a:ext cx="74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474"/>
                </a:solidFill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229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0229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75669"/>
                </a:solidFill>
              </a:rPr>
              <a:t>R1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00037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00037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49844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49844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9653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99653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49461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49461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9268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9268" y="3794760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229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0229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75669"/>
                </a:solidFill>
              </a:rPr>
              <a:t>R2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00037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00037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49844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49844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9653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99653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49461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49461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9268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9268" y="4361688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0229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0229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75669"/>
                </a:solidFill>
              </a:rPr>
              <a:t>R3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0037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00037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49844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49844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99653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99653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49461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49461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9268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99268" y="4928616"/>
            <a:ext cx="7040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4508" y="5852160"/>
            <a:ext cx="1828800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4508" y="5879593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▶  Solve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5188" y="1463040"/>
            <a:ext cx="5852160" cy="512064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82348" y="1554481"/>
            <a:ext cx="5577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UI Features at this Stage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82348" y="2057401"/>
            <a:ext cx="55778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7 system sizes: 2×2 through 8×8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Active size highlighted in teal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Column headers show x₁, x₂, … and b separator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Row labels R1, R2, R3 for readability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"Load Example" fills a pre-verified example system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"Reset" clears the grid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Cells validated before API call — empty/NaN cells blocked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30-second timeout with user-friendly error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Output Snapshot — Solution &amp; Visualisation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Solution Panel — Answer + Bar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463040"/>
            <a:ext cx="539496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348" y="1463040"/>
            <a:ext cx="539496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348" y="1463040"/>
            <a:ext cx="5394960" cy="1371600"/>
          </a:xfrm>
          <a:prstGeom prst="rect">
            <a:avLst/>
          </a:prstGeom>
          <a:noFill/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508761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228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668" y="201168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803D"/>
                </a:solidFill>
              </a:rPr>
              <a:t>x₁ =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6148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7588" y="201168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803D"/>
                </a:solidFill>
              </a:rPr>
              <a:t>x₂ =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2068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3508" y="201168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</a:rPr>
              <a:t>x₃ = −1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348" y="2971800"/>
            <a:ext cx="539496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508" y="301752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Solution Values  (bar chart)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988" y="4572000"/>
            <a:ext cx="9144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988" y="4279392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88" y="5806440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x₁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9028" y="4069080"/>
            <a:ext cx="914400" cy="1508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9028" y="3776472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9028" y="5806440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x₂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2068" y="5577840"/>
            <a:ext cx="9144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2068" y="6126480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2068" y="5806440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x₃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228" y="5577840"/>
            <a:ext cx="50292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5188" y="1463040"/>
            <a:ext cx="5852160" cy="512064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2348" y="1554481"/>
            <a:ext cx="5577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What the UI Shows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2348" y="2057400"/>
            <a:ext cx="55778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Final answer box (green): x₁ = 2, x₂ = 3, x₃ = −1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Bar chart — green bars = positive, red bar = negative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Zero axis clearly shows which values are negative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Value labels on every bar (no ambiguity)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Satisfies Guideline 4: visual representation of results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Below the chart → full step-by-step working: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Initial augmented matrix [A|b]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Each row swap (pivot) with matrix state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Each elimination step  Rᵢ ← Rᵢ − f·Rⱼ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Upper-triangular form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Back-substitution formulas for each variable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Output Snapshot — Step-by-Step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Step-by-Step Working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508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348" y="1508760"/>
            <a:ext cx="557784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4508" y="154533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INITIAL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4868" y="1545337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FFFFFF"/>
                </a:solidFill>
              </a:rPr>
              <a:t>Original augmented matrix [A | b]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78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78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894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894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10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910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9267" y="1965960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9267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8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78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894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894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910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910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9267" y="2532888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9267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78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878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894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3894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910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910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9267" y="3099816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9267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0948" y="1508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10948" y="1508760"/>
            <a:ext cx="5577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8108" y="154533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PIVOT  R1 ↔ R2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8468" y="1545337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FFFFFF"/>
                </a:solidFill>
              </a:rPr>
              <a:t>Swap R1 ↔ R2  (largest pivot = −3)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38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238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254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254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2708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2708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2867" y="1965960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42867" y="1984249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238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238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254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254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2708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2708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42867" y="2532888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42867" y="2551177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238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238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254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8254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2708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62708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42867" y="3099816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42867" y="3118105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7348" y="39776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67348" y="3977639"/>
            <a:ext cx="5577840" cy="347472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4508" y="4014215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ELIMINATION  R2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4868" y="4014216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FFFFFF"/>
                </a:solidFill>
              </a:rPr>
              <a:t>R2 ← R2 − (−0.667) × R1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878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878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3894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3894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910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910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9267" y="4434839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299267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878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878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3894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73894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910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01910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9267" y="5001767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99267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0.67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878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878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3894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73894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01910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910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9267" y="5568695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9267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10948" y="39776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310948" y="3977639"/>
            <a:ext cx="557784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48108" y="4014215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UPPER TRIANGULAR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8468" y="4014215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FFFFFF"/>
                </a:solidFill>
              </a:rPr>
              <a:t>Upper-triangular form — ready for back-substitution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238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238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8254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68254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62708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962708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2867" y="4434839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242867" y="4453128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238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40238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8254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68254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62708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962708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242867" y="5001767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242867" y="5020056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0.67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238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40238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8254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68254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2708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62708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2867" y="5568695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242867" y="5586984"/>
            <a:ext cx="120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−0.33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7348" y="6492240"/>
            <a:ext cx="11430000" cy="164592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50228" y="6528816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→  Back substitution yields  x₃ = −1   x₂ = 3   x₁ =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73153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Testing — test_solver.py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685801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Pytest Test Suite — 5 Test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348" y="1508760"/>
            <a:ext cx="370332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076" y="156362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TestBasicSolutions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076" y="2011681"/>
            <a:ext cx="35204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2×2 simple system → (1.2, 2.2)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3×3 standard example → (2, 3, −1)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Identity matrix → direct read-off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Negative solution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Fractional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9268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9268" y="1508760"/>
            <a:ext cx="370332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8996" y="156362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8996" y="2011680"/>
            <a:ext cx="3520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Result contains keys: solution, variables, steps, 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Variables named x1, x2, … xn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Step sequence: initial → … → back_substitution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1188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1188" y="1508760"/>
            <a:ext cx="370332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0916" y="156362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TestErrorCases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916" y="2011681"/>
            <a:ext cx="3520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Singular matrix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Empty matrix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Mismatched row length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Matrix &gt; 100 rows raises ValueError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348" y="38862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7348" y="3886200"/>
            <a:ext cx="370332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076" y="394106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TestNumericalProperties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076" y="4389120"/>
            <a:ext cx="3520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Solution is list of Python floats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len(solution) == n for n = 2…5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No −0.0 in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9268" y="38862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9268" y="3886200"/>
            <a:ext cx="370332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8996" y="394106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TestMathematicalInvariants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8996" y="4389120"/>
            <a:ext cx="3520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Residual check:  A · x = b  verified numerically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abs_tol = 1e-6  on all float comparisons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Strongest possible correctness guarantee</a:t>
            </a:r>
          </a:p>
        </p:txBody>
      </p:sp>
    </p:spTree>
    <p:extLst>
      <p:ext uri="{BB962C8B-B14F-4D97-AF65-F5344CB8AC3E}">
        <p14:creationId xmlns:p14="http://schemas.microsoft.com/office/powerpoint/2010/main" val="2055873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other methods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Why this project focuses on Gaussian Elimination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83080"/>
            <a:ext cx="2011680" cy="594360"/>
          </a:xfrm>
          <a:prstGeom prst="rect">
            <a:avLst/>
          </a:prstGeom>
          <a:solidFill>
            <a:srgbClr val="0B132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783080"/>
            <a:ext cx="2788920" cy="594360"/>
          </a:xfrm>
          <a:prstGeom prst="rect">
            <a:avLst/>
          </a:prstGeom>
          <a:solidFill>
            <a:srgbClr val="0B132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 idea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1783080"/>
            <a:ext cx="2926080" cy="594360"/>
          </a:xfrm>
          <a:prstGeom prst="rect">
            <a:avLst/>
          </a:prstGeom>
          <a:solidFill>
            <a:srgbClr val="0B132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Strength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783080"/>
            <a:ext cx="3291840" cy="594360"/>
          </a:xfrm>
          <a:prstGeom prst="rect">
            <a:avLst/>
          </a:prstGeom>
          <a:solidFill>
            <a:srgbClr val="0B132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Limitation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37744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Gaussian Elimination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2606040" y="2377440"/>
            <a:ext cx="2788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Triangularize then back-substitute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394960" y="237744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General purpose, efficient for dense systems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321040" y="2377440"/>
            <a:ext cx="3291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Not ideal for repeated solves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94360" y="297180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Gauss-Jordan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2606040" y="2971800"/>
            <a:ext cx="2788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Reduce matrix to RREF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394960" y="297180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Directly obtains solution/inverse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321040" y="2971800"/>
            <a:ext cx="3291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More operations than Gaussian elimination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94360" y="35661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LU Decomposition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2606040" y="3566160"/>
            <a:ext cx="2788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Factor A into L and U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5394960" y="356616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Efficient when solving Ax=b repeatedly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8321040" y="3566160"/>
            <a:ext cx="3291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More advanced implementation</a:t>
            </a:r>
            <a:endParaRPr lang="en-US" sz="9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and observations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What the implementation demonstrates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The solver handles multiple system sizes and returns accurate solution vectors.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4871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4144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Partial pivoting steps are recorded and shown when row swaps occur.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30998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54096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The frontend can display each matrix transformation, making the method easier to understand.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7124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66744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Automated tests validate correctness using known solutions, residual checks and larger systems.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future enhancements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Realistic evaluation of the project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828800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267712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Dense-system method, O(n³) time, floating-point precision limits, and step storage can grow for large matrices.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828800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Mathematical extensions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2267712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LU decomposition, determinant calculation, inverse matrix, and condition-number visualization.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183880" y="1828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1828800"/>
            <a:ext cx="73152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Product enhancements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2267712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PDF export, saved examples, graph of operation counts, and better mobile layout.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32B"/>
                </a:solidFill>
              </a:rPr>
              <a:t>Future work can turn this from a solver into a complete numerical linear algebra learning platform.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0896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65105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Gaussian Elimination Solver •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Theory + implementation + validation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109728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82880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Concept achieved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267712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Gaussian Elimination was implemented with forward elimination and back substitution.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82880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Stability improved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2267712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Partial pivoting improves numerical robustness and handles weak pivots better.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183880" y="18288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CFFAFE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182880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Project delivered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2267712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React + FastAPI app solves systems and explains every step interactively.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32B"/>
                </a:solidFill>
              </a:rPr>
              <a:t>Final takeaway: the project connects numerical linear algebra theory with a working full-stack educational application.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0574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13232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5440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Gaussian Elimination Solver • FastAPI + React + NumPy</a:t>
            </a:r>
            <a:endParaRPr lang="en-US" sz="12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2787</TotalTime>
  <Words>2349</Words>
  <Application>Microsoft Office PowerPoint</Application>
  <PresentationFormat>Widescreen</PresentationFormat>
  <Paragraphs>416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Calisto MT</vt:lpstr>
      <vt:lpstr>Consolas</vt:lpstr>
      <vt:lpstr>Courier New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PES M.Tech Data Science and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 Elimination with Partial Pivoting</dc:title>
  <dc:subject>Gaussian Elimination with Partial Pivoting Project Defense</dc:subject>
  <dc:creator>Vivek Ramesh</dc:creator>
  <cp:lastModifiedBy>vinayak 66</cp:lastModifiedBy>
  <cp:revision>9</cp:revision>
  <dcterms:created xsi:type="dcterms:W3CDTF">2026-06-16T07:42:27Z</dcterms:created>
  <dcterms:modified xsi:type="dcterms:W3CDTF">2026-06-18T09:04:33Z</dcterms:modified>
</cp:coreProperties>
</file>