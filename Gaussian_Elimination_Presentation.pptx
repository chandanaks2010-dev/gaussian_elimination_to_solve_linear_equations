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sh kumar, Chandana" userId="d381b649-607d-4402-8151-ba72a0570001" providerId="ADAL" clId="{6D98DD82-D950-4A70-9541-EF8697BDC591}"/>
    <pc:docChg chg="delSld">
      <pc:chgData name="Shesh kumar, Chandana" userId="d381b649-607d-4402-8151-ba72a0570001" providerId="ADAL" clId="{6D98DD82-D950-4A70-9541-EF8697BDC591}" dt="2026-06-18T06:10:02.707" v="0" actId="47"/>
      <pc:docMkLst>
        <pc:docMk/>
      </pc:docMkLst>
      <pc:sldChg chg="del">
        <pc:chgData name="Shesh kumar, Chandana" userId="d381b649-607d-4402-8151-ba72a0570001" providerId="ADAL" clId="{6D98DD82-D950-4A70-9541-EF8697BDC591}" dt="2026-06-18T06:10:02.707" v="0" actId="47"/>
        <pc:sldMkLst>
          <pc:docMk/>
          <pc:sldMk cId="0" sldId="26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834640"/>
            <a:ext cx="12188952" cy="54864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Gaussian Elimination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7DD3FC"/>
                </a:solidFill>
              </a:rPr>
              <a:t>to Solve Linear Equations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94A3B8"/>
                </a:solidFill>
              </a:rPr>
              <a:t>A step-by-step interactive solver using Python · FastAPI · React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3931920"/>
            <a:ext cx="2011680" cy="45720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17520" y="39502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Python / NumPy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3931920"/>
            <a:ext cx="2011680" cy="4572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0" y="39502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3931920"/>
            <a:ext cx="20116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19" y="39502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React + Vite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75669"/>
                </a:solidFill>
              </a:rPr>
              <a:t>Linear Algebra Project — AMES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Solving Systems of Linear Equations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572768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7474"/>
                </a:solidFill>
              </a:rPr>
              <a:t>Given a system  Ax =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</a:rPr>
              <a:t>2x₁  +  x₂  −  x₃  =  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</a:rPr>
              <a:t>−3x₁  −  x₂  + 2x₃  = −11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172A"/>
                </a:solidFill>
              </a:rPr>
              <a:t>−2x₁  +  x₂  + 2x₃  =  −3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46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</a:rPr>
              <a:t>Find:   x₁ = ?   x₂ = ?   x₃ = 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463040"/>
            <a:ext cx="5303520" cy="2194560"/>
          </a:xfrm>
          <a:prstGeom prst="rect">
            <a:avLst/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57276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</a:rPr>
              <a:t>Why is this challenging?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01168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669"/>
                </a:solidFill>
              </a:rPr>
              <a:t>⚠ Manual solving is error-prone for large n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⚠ Naive algorithms fail on singular / near-singular matrices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⚠ Floating-point errors accumulate without pivoting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⚠ Hard to visualise what each step does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11247120" cy="65836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895344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Goal:  Build an interactive tool that solves Ax = b step-by-step, validates inputs, handles edge cases, and visualises the solution.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66344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475669"/>
                </a:solidFill>
              </a:rPr>
              <a:t>▸ Implement Gaussian Elimination with Partial Pivoting</a:t>
            </a:r>
          </a:p>
          <a:p>
            <a:pPr algn="l"/>
            <a:r>
              <a:rPr sz="1400">
                <a:solidFill>
                  <a:srgbClr val="475669"/>
                </a:solidFill>
              </a:rPr>
              <a:t>▸ Show every row-operation step with the augmented matrix</a:t>
            </a:r>
          </a:p>
          <a:p>
            <a:pPr algn="l"/>
            <a:r>
              <a:rPr sz="1400">
                <a:solidFill>
                  <a:srgbClr val="475669"/>
                </a:solidFill>
              </a:rPr>
              <a:t>▸ Detect singular / ill-conditioned systems with clear messages</a:t>
            </a:r>
          </a:p>
          <a:p>
            <a:pPr algn="l"/>
            <a:r>
              <a:rPr sz="1400">
                <a:solidFill>
                  <a:srgbClr val="475669"/>
                </a:solidFill>
              </a:rPr>
              <a:t>▸ Display solution values as an interactive bar chart</a:t>
            </a:r>
          </a:p>
          <a:p>
            <a:pPr algn="l"/>
            <a:r>
              <a:rPr sz="1400">
                <a:solidFill>
                  <a:srgbClr val="475669"/>
                </a:solidFill>
              </a:rPr>
              <a:t>▸ Expose the solver through a REST API for a React front-end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Background — Algorithm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What is Gaussian Elimination?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1 — Forward Elimination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669"/>
                </a:solidFill>
              </a:rPr>
              <a:t>▸ Convert the augmented matrix [A|b] into upper-triangular form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For each pivot column, eliminate all entries below the pivot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Row operation:  Rᵢ ← Rᵢ − (aᵢⱼ / pivot) × Rⱼ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Partial pivoting: always swap to bring the largest pivot to top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Prevents division by near-zero values (numerical stability)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46304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5486400" cy="4572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2 — Back Substitution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05740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669"/>
                </a:solidFill>
              </a:rPr>
              <a:t>▸ Start from the last equation — it has only one unknown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Substitute known values upward row by row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xₙ = bₙ / aₙₙ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xᵢ = (bᵢ − Σ aᵢⱼ xⱼ) / aᵢᵢ   for j &gt; i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Produces the final solution vector 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62636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803D"/>
                </a:solidFill>
              </a:rPr>
              <a:t>Time Complexity:  O(n³)  for forward elimination  +  O(n²)  for back substitution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Methodology — Partial Pivoting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Why Partial Pivoting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39496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394960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❌  Without Pivoting — Unstable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669"/>
                </a:solidFill>
              </a:rPr>
              <a:t>▸ Pivot ≈ 0.0001 → factor = row / 0.0001 = 10,000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Huge multiplier amplifies floating-point rounding errors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Result can be completely wrong for well-posed systems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Division by exactly 0 crashes the algorithm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463040"/>
            <a:ext cx="53035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463040"/>
            <a:ext cx="530352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5087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With Partial Pivoting — Stable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669"/>
                </a:solidFill>
              </a:rPr>
              <a:t>▸ Scan column below pivot row for the largest |value|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Swap that row to the pivot position before elimination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Multiplier |factor| ≤ 1 — no error amplification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Handles near-singular matrices gracefully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57600"/>
            <a:ext cx="11247120" cy="26517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749040"/>
            <a:ext cx="10972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7DD3FC"/>
                </a:solidFill>
                <a:latin typeface="Courier New"/>
              </a:rPr>
              <a:t># Find row with largest absolute value (partial pivot)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pivot_row = col + np.argmax(np.abs(aug[col:, col]))</a:t>
            </a:r>
          </a:p>
          <a:p>
            <a:endParaRPr sz="1200">
              <a:solidFill>
                <a:srgbClr val="7DD3FC"/>
              </a:solidFill>
              <a:latin typeface="Courier New"/>
            </a:endParaRP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if abs(aug[pivot_row, col]) &lt; 1e-12: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raise ValueError("Matrix is singular — no unique solution.")</a:t>
            </a:r>
          </a:p>
          <a:p>
            <a:endParaRPr sz="1200">
              <a:solidFill>
                <a:srgbClr val="7DD3FC"/>
              </a:solidFill>
              <a:latin typeface="Courier New"/>
            </a:endParaRP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if pivot_row != col: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aug[[col, pivot_row]] = aug[[pivot_row, col]]   # swap rows</a:t>
            </a:r>
          </a:p>
          <a:p>
            <a:endParaRPr sz="1200">
              <a:solidFill>
                <a:srgbClr val="7DD3FC"/>
              </a:solidFill>
              <a:latin typeface="Courier New"/>
            </a:endParaRP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factor = aug[row, col] / aug[col, col]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aug[row] = aug[row] - factor * aug[col]             # eliminate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Methodology — Algorithm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457200" cy="201168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21945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7474"/>
                </a:solidFill>
              </a:rPr>
              <a:t>Input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Size ≤ 100 · n+1 columns · numeric values · singular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508760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508760"/>
            <a:ext cx="457200" cy="20116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70832" y="21945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Condition Number 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np.linalg.cond(A) &gt; 1e6 → warn user about ill-conditioning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508760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600" y="1508760"/>
            <a:ext cx="457200" cy="20116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219456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</a:rPr>
              <a:t>Partial Pivoting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For each column: find max |pivot|, swap rows if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40479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65760" y="3840479"/>
            <a:ext cx="457200" cy="201168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8912" y="4526279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9776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7474"/>
                </a:solidFill>
              </a:rPr>
              <a:t>Forward Elimination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434839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Zero out all entries below each pivot → upper-triangular 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840479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297680" y="3840479"/>
            <a:ext cx="457200" cy="20116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70832" y="4526279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39776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</a:rPr>
              <a:t>Back Substitution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46320" y="4434839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Solve from bottom row upward, substituting known values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840479"/>
            <a:ext cx="370332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229600" y="3840479"/>
            <a:ext cx="457200" cy="201168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02752" y="4526279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78240" y="39776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B2777"/>
                </a:solidFill>
              </a:rPr>
              <a:t>Visualisation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4434839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Return steps + solution to React UI · render bar chart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Project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Full-Stack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3474720" cy="5029200"/>
          </a:xfrm>
          <a:prstGeom prst="rect">
            <a:avLst/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347472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  (React + Vite)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669"/>
                </a:solidFill>
              </a:rPr>
              <a:t>MatrixSolver.jsx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Size selector (2×2 – 8×8)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Matrix input grid [A|b]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Load example / Reset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POST /solve → FastAPI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SolutionDisplay.jsx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Final answer box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SVG bar chart (solution values)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Step-by-step working cards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3291840"/>
            <a:ext cx="137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7474"/>
                </a:solidFill>
              </a:rPr>
              <a:t>HTTP
POST /solve
←→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463040"/>
            <a:ext cx="3474720" cy="50292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486400" y="1463040"/>
            <a:ext cx="3474720" cy="438912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23560" y="15087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  (FastAPI + Python)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011680"/>
            <a:ext cx="3291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475669"/>
                </a:solidFill>
              </a:rPr>
              <a:t>main.py  (API layer)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GET  /           health check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GET  /test        smoke test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POST /solve       solver entry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Rate limit: 30 req/min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solver.py  (math core)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Input validation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Condition number check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Partial pivoting + elimination</a:t>
            </a:r>
          </a:p>
          <a:p>
            <a:pPr algn="l"/>
            <a:r>
              <a:rPr sz="1200">
                <a:solidFill>
                  <a:srgbClr val="475669"/>
                </a:solidFill>
              </a:rPr>
              <a:t>  · Back substitution +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1463040"/>
            <a:ext cx="256032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508760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DD3FC"/>
                </a:solidFill>
              </a:rPr>
              <a:t>File Structure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1965960"/>
            <a:ext cx="2377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7DD3FC"/>
                </a:solidFill>
                <a:latin typeface="Courier New"/>
              </a:rPr>
              <a:t>Backend/</a:t>
            </a:r>
          </a:p>
          <a:p>
            <a:r>
              <a:rPr sz="1100">
                <a:solidFill>
                  <a:srgbClr val="7DD3FC"/>
                </a:solidFill>
                <a:latin typeface="Courier New"/>
              </a:rPr>
              <a:t>  main.py</a:t>
            </a:r>
          </a:p>
          <a:p>
            <a:r>
              <a:rPr sz="1100">
                <a:solidFill>
                  <a:srgbClr val="7DD3FC"/>
                </a:solidFill>
                <a:latin typeface="Courier New"/>
              </a:rPr>
              <a:t>  solver.py</a:t>
            </a:r>
          </a:p>
          <a:p>
            <a:r>
              <a:rPr sz="1100">
                <a:solidFill>
                  <a:srgbClr val="7DD3FC"/>
                </a:solidFill>
                <a:latin typeface="Courier New"/>
              </a:rPr>
              <a:t>  test_solver.py</a:t>
            </a:r>
          </a:p>
          <a:p>
            <a:r>
              <a:rPr sz="1100">
                <a:solidFill>
                  <a:srgbClr val="7DD3FC"/>
                </a:solidFill>
                <a:latin typeface="Courier New"/>
              </a:rPr>
              <a:t>  requirements.txt</a:t>
            </a:r>
          </a:p>
          <a:p>
            <a:endParaRPr sz="1100">
              <a:solidFill>
                <a:srgbClr val="7DD3FC"/>
              </a:solidFill>
              <a:latin typeface="Courier New"/>
            </a:endParaRPr>
          </a:p>
          <a:p>
            <a:r>
              <a:rPr sz="1100">
                <a:solidFill>
                  <a:srgbClr val="7DD3FC"/>
                </a:solidFill>
                <a:latin typeface="Courier New"/>
              </a:rPr>
              <a:t>Frontend/</a:t>
            </a:r>
          </a:p>
          <a:p>
            <a:r>
              <a:rPr sz="1100">
                <a:solidFill>
                  <a:srgbClr val="7DD3FC"/>
                </a:solidFill>
                <a:latin typeface="Courier New"/>
              </a:rPr>
              <a:t>  src/</a:t>
            </a:r>
          </a:p>
          <a:p>
            <a:r>
              <a:rPr sz="1100">
                <a:solidFill>
                  <a:srgbClr val="7DD3FC"/>
                </a:solidFill>
                <a:latin typeface="Courier New"/>
              </a:rPr>
              <a:t>    components/</a:t>
            </a:r>
          </a:p>
          <a:p>
            <a:r>
              <a:rPr sz="1100">
                <a:solidFill>
                  <a:srgbClr val="7DD3FC"/>
                </a:solidFill>
                <a:latin typeface="Courier New"/>
              </a:rPr>
              <a:t>      MatrixSolver.jsx</a:t>
            </a:r>
          </a:p>
          <a:p>
            <a:r>
              <a:rPr sz="1100">
                <a:solidFill>
                  <a:srgbClr val="7DD3FC"/>
                </a:solidFill>
                <a:latin typeface="Courier New"/>
              </a:rPr>
              <a:t>      SolutionDisplay.jsx</a:t>
            </a:r>
          </a:p>
          <a:p>
            <a:r>
              <a:rPr sz="1100">
                <a:solidFill>
                  <a:srgbClr val="7DD3FC"/>
                </a:solidFill>
                <a:latin typeface="Courier New"/>
              </a:rPr>
              <a:t>    App.jsx</a:t>
            </a:r>
          </a:p>
          <a:p>
            <a:r>
              <a:rPr sz="1100">
                <a:solidFill>
                  <a:srgbClr val="7DD3FC"/>
                </a:solidFill>
                <a:latin typeface="Courier New"/>
              </a:rPr>
              <a:t>    index.css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Backend — solver.py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Core Solver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1430000" cy="5074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111556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7DD3FC"/>
                </a:solidFill>
                <a:latin typeface="Courier New"/>
              </a:rPr>
              <a:t>def gaussian_elimination(matrix: List[List[float]]) -&gt; dict: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n = len(matrix)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aug = np.array(matrix, dtype=float)          # convert to NumPy</a:t>
            </a:r>
          </a:p>
          <a:p>
            <a:endParaRPr sz="1200">
              <a:solidFill>
                <a:srgbClr val="7DD3FC"/>
              </a:solidFill>
              <a:latin typeface="Courier New"/>
            </a:endParaRP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# ① Condition number warning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if np.linalg.cond(aug[:, :n]) &gt; 1e6: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    steps.append({"type": "warning", ...})</a:t>
            </a:r>
          </a:p>
          <a:p>
            <a:endParaRPr sz="1200">
              <a:solidFill>
                <a:srgbClr val="7DD3FC"/>
              </a:solidFill>
              <a:latin typeface="Courier New"/>
            </a:endParaRP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# ② Forward elimination with partial pivoting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for col in range(n):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    pivot_row = col + np.argmax(np.abs(aug[col:, col]))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    if abs(aug[pivot_row, col]) &lt; 1e-12: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        raise ValueError("Matrix is singular — no unique solution.")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    if pivot_row != col: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        aug[[col, pivot_row]] = aug[[pivot_row, col]]    # swap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    for row in range(col + 1, n):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        factor = aug[row, col] / aug[col, col]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        aug[row] = aug[row] - factor * aug[col]          # eliminate</a:t>
            </a:r>
          </a:p>
          <a:p>
            <a:endParaRPr sz="1200">
              <a:solidFill>
                <a:srgbClr val="7DD3FC"/>
              </a:solidFill>
              <a:latin typeface="Courier New"/>
            </a:endParaRP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# ③ Back substitution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x = np.zeros(n)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for i in range(n - 1, -1, -1):</a:t>
            </a: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    x[i] = (aug[i, n] - np.dot(aug[i, i+1:n], x[i+1:n])) / aug[i, i]</a:t>
            </a:r>
          </a:p>
          <a:p>
            <a:endParaRPr sz="1200">
              <a:solidFill>
                <a:srgbClr val="7DD3FC"/>
              </a:solidFill>
              <a:latin typeface="Courier New"/>
            </a:endParaRPr>
          </a:p>
          <a:p>
            <a:r>
              <a:rPr sz="1200">
                <a:solidFill>
                  <a:srgbClr val="7DD3FC"/>
                </a:solidFill>
                <a:latin typeface="Courier New"/>
              </a:rPr>
              <a:t>    return {"solution": [...], "variables": [...], "steps": [...], "n": n}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Methodology — Input Validation &amp; Error Handling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Checking Data Before Every Calculation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201168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Empty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842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n == 0 → ValueError: 'Matrix must have at least one row'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50876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508760"/>
            <a:ext cx="201168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Row length mismatch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842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len(row) ≠ n+1 → clear message with row number and expected size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743200"/>
            <a:ext cx="201168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Size limit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1868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n &gt; 100 → rejected to prevent resource exhaustion (DoS guard)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74320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2743200"/>
            <a:ext cx="201168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834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</a:rPr>
              <a:t>Singular matrix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21868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|pivot| &lt; 1e-12 → 'no unique solution'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977639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977639"/>
            <a:ext cx="201168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0690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</a:rPr>
              <a:t>Ill-conditioned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453127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cond(A) &gt; 1e6 → warning step added to the UI (non-fatal)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977639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3977639"/>
            <a:ext cx="201168" cy="109728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29400" y="406907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7474"/>
                </a:solidFill>
              </a:rPr>
              <a:t>Frontend guard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4453127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Each cell validated as finite number before POST request is sent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21208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5212080"/>
            <a:ext cx="201168" cy="10972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5800" y="5303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803D"/>
                </a:solidFill>
              </a:rPr>
              <a:t>API timeout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6875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30-second AbortController timeout on every fetch 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212080"/>
            <a:ext cx="557784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5212080"/>
            <a:ext cx="201168" cy="109728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29400" y="5303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5803D"/>
                </a:solidFill>
              </a:rPr>
              <a:t>Rate limiting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568756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</a:rPr>
              <a:t>30 requests per minute per IP — simple in-memory middleware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Testing — test_solver.py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Pytest Test Suite — 5 Test Classes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703320" cy="402336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5488" y="15636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TestBasicSolutions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011680"/>
            <a:ext cx="35204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75669"/>
                </a:solidFill>
              </a:rPr>
              <a:t>▸ 2×2 simple system → (1.2, 2.2)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3×3 standard example → (2, 3, −1)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Identity matrix → direct read-off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Negative solution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Fractional 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50876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97680" y="1508760"/>
            <a:ext cx="3703320" cy="402336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07408" y="15636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07408" y="2011680"/>
            <a:ext cx="35204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75669"/>
                </a:solidFill>
              </a:rPr>
              <a:t>▸ Result contains keys: solution, variables, steps, n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Variables named x1, x2, … xn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Step sequence: initial → … → back_substitution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0" y="1508760"/>
            <a:ext cx="3703320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39328" y="156362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TestErrorCases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9328" y="2011680"/>
            <a:ext cx="35204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75669"/>
                </a:solidFill>
              </a:rPr>
              <a:t>▸ Singular matrix raises ValueError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Empty matrix raises ValueError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Mismatched row length raises ValueError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Matrix &gt; 100 rows raises ValueError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88620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65760" y="3886200"/>
            <a:ext cx="3703320" cy="40233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5488" y="394106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TestNumericalProperties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4389120"/>
            <a:ext cx="35204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75669"/>
                </a:solidFill>
              </a:rPr>
              <a:t>▸ Solution is list of Python floats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len(solution) == n for n = 2…5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No −0.0 in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3886200"/>
            <a:ext cx="370332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97680" y="3886200"/>
            <a:ext cx="3703320" cy="40233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07408" y="3941064"/>
            <a:ext cx="3520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TestMathematicalInvariants 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389120"/>
            <a:ext cx="3520440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475669"/>
                </a:solidFill>
              </a:rPr>
              <a:t>▸ Residual check:  A · x = b  verified numerically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abs_tol = 1e-6  on all float comparisons</a:t>
            </a:r>
          </a:p>
          <a:p>
            <a:pPr algn="l"/>
            <a:r>
              <a:rPr sz="1100">
                <a:solidFill>
                  <a:srgbClr val="475669"/>
                </a:solidFill>
              </a:rPr>
              <a:t>▸ Strongest possible correctness guarantee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Output Snapshot — Step 1 &amp; 2: 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User Interface — Entering the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Step 1 — Choose System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93392"/>
            <a:ext cx="59436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0299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669"/>
                </a:solidFill>
              </a:rPr>
              <a:t>2×2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4440" y="1993392"/>
            <a:ext cx="594360" cy="45720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34440" y="20299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3×3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20240" y="1993392"/>
            <a:ext cx="59436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20299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669"/>
                </a:solidFill>
              </a:rPr>
              <a:t>4×4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1993392"/>
            <a:ext cx="59436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606040" y="20299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669"/>
                </a:solidFill>
              </a:rPr>
              <a:t>5×5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993392"/>
            <a:ext cx="59436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40" y="20299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669"/>
                </a:solidFill>
              </a:rPr>
              <a:t>6×6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1993392"/>
            <a:ext cx="59436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977639" y="20299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669"/>
                </a:solidFill>
              </a:rPr>
              <a:t>7×7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1993392"/>
            <a:ext cx="594360" cy="45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2029968"/>
            <a:ext cx="594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75669"/>
                </a:solidFill>
              </a:rPr>
              <a:t>8×8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34640"/>
            <a:ext cx="539496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288036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Step 2 — Enter Augmented Matrix [A | b]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3337560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98448" y="3337560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7474"/>
                </a:solidFill>
              </a:rPr>
              <a:t>x₁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48255" y="3337560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7474"/>
                </a:solidFill>
              </a:rPr>
              <a:t>x₂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98064" y="3337560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7474"/>
                </a:solidFill>
              </a:rPr>
              <a:t>x₃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47872" y="3337560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7474"/>
                </a:solidFill>
              </a:rPr>
              <a:t>|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79" y="3337560"/>
            <a:ext cx="749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7474"/>
                </a:solidFill>
              </a:rPr>
              <a:t>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749039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794760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75669"/>
                </a:solidFill>
              </a:rPr>
              <a:t>R1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98448" y="3749039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98448" y="3794760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48255" y="3749039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48255" y="3794760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98064" y="3749039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798064" y="3794760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47872" y="3749039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547872" y="3794760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|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97679" y="3749039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97679" y="3794760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8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315968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4361688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75669"/>
                </a:solidFill>
              </a:rPr>
              <a:t>R2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298448" y="4315968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298448" y="4361688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48255" y="4315968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048255" y="4361688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98064" y="4315968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798064" y="4361688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47872" y="4315968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547872" y="4361688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|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297679" y="4315968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297679" y="4361688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−11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4882896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48640" y="4928616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75669"/>
                </a:solidFill>
              </a:rPr>
              <a:t>R3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98448" y="4882896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298448" y="4928616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−2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048255" y="4882896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2048255" y="4928616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98064" y="4882896"/>
            <a:ext cx="704087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2798064" y="4928616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547872" y="4882896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3547872" y="4928616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|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297679" y="4882896"/>
            <a:ext cx="704087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4297679" y="4928616"/>
            <a:ext cx="70408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2920" y="5852160"/>
            <a:ext cx="1828800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502920" y="58795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▶  Solve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943600" y="1463040"/>
            <a:ext cx="5852160" cy="5120640"/>
          </a:xfrm>
          <a:prstGeom prst="rect">
            <a:avLst/>
          </a:prstGeom>
          <a:solidFill>
            <a:srgbClr val="FF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080760" y="155448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UI Features at this Stage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80760" y="205740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669"/>
                </a:solidFill>
              </a:rPr>
              <a:t>▸ 7 system sizes: 2×2 through 8×8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Active size highlighted in teal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Column headers show x₁, x₂, … and b separator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Row labels R1, R2, R3 for readability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"Load Example" fills a pre-verified example system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"Reset" clears the grid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Cells validated before API call — empty/NaN cells blocked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30-second timeout with user-friendly error messages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Output Snapshot — Solution &amp; Visualisation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Solution Panel — Answer + Bar Chart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5394960" cy="1371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5394960" cy="13716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1463040"/>
            <a:ext cx="5394960" cy="1371600"/>
          </a:xfrm>
          <a:prstGeom prst="rect">
            <a:avLst/>
          </a:prstGeom>
          <a:noFill/>
          <a:ln w="254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803D"/>
                </a:solidFill>
              </a:rPr>
              <a:t>Solution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14630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5803D"/>
                </a:solidFill>
              </a:rPr>
              <a:t>x₁ =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965960"/>
            <a:ext cx="14630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0" y="2011680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5803D"/>
                </a:solidFill>
              </a:rPr>
              <a:t>x₂ = 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1965960"/>
            <a:ext cx="146304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931920" y="2011680"/>
            <a:ext cx="13258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DC2626"/>
                </a:solidFill>
              </a:rPr>
              <a:t>x₃ = −1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5394960" cy="3611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3017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172A"/>
                </a:solidFill>
              </a:rPr>
              <a:t>Solution Values  (bar chart)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572000"/>
            <a:ext cx="914400" cy="100584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2793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803D"/>
                </a:solidFill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06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x₁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4069080"/>
            <a:ext cx="914400" cy="150876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377440" y="377647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5803D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806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x₂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0480" y="5577840"/>
            <a:ext cx="91440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6126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DC2626"/>
                </a:solidFill>
              </a:rPr>
              <a:t>-1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5806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F172A"/>
                </a:solidFill>
              </a:rPr>
              <a:t>x₃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77840"/>
            <a:ext cx="5029200" cy="27432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943600" y="1463040"/>
            <a:ext cx="5852160" cy="5120640"/>
          </a:xfrm>
          <a:prstGeom prst="rect">
            <a:avLst/>
          </a:prstGeom>
          <a:solidFill>
            <a:srgbClr val="FF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80760" y="1554480"/>
            <a:ext cx="55778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</a:rPr>
              <a:t>What the UI Shows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057400"/>
            <a:ext cx="5577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75669"/>
                </a:solidFill>
              </a:rPr>
              <a:t>▸ Final answer box (green): x₁ = 2, x₂ = 3, x₃ = −1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Bar chart — green bars = positive, red bar = negative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Zero axis clearly shows which values are negative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Value labels on every bar (no ambiguity)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Satisfies Guideline 4: visual representation of results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Below the chart → full step-by-step working: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  Initial augmented matrix [A|b]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  Each row swap (pivot) with matrix state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  Each elimination step  Rᵢ ← Rᵢ − f·Rⱼ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  Upper-triangular form</a:t>
            </a:r>
          </a:p>
          <a:p>
            <a:pPr algn="l"/>
            <a:r>
              <a:rPr sz="1300">
                <a:solidFill>
                  <a:srgbClr val="475669"/>
                </a:solidFill>
              </a:rPr>
              <a:t>▸   Back-substitution formulas for each variable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E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Output Snapshot — Step-by-Step Elimination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F172A"/>
                </a:solidFill>
              </a:rPr>
              <a:t>Step-by-Step Working 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577840" cy="34747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4533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INITIAL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4533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Original augmented matrix [A | b]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984248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37360" y="1965960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737360" y="1984248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7520" y="1965960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17520" y="1984248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79" y="1965960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97679" y="1984248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532888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551176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737360" y="2532888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37360" y="2551176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17520" y="2532888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17520" y="2551176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2532888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97679" y="2551176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−11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99816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118104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737360" y="3099816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737360" y="3118104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3099816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017520" y="3118104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97679" y="3099816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297679" y="3118104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1508760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1508760"/>
            <a:ext cx="5577840" cy="34747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1545336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PIVOT  R1 ↔ R2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1545336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Swap R1 ↔ R2  (largest pivot = −3)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965960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0" y="1984248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680960" y="1965960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680960" y="1984248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61120" y="1965960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961120" y="1984248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241279" y="1965960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41279" y="1984248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−11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2532888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2551176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2532888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680960" y="2551176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61120" y="2532888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961120" y="2551176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241279" y="2532888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241279" y="2551176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8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3099816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400800" y="3118104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−2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680960" y="3099816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680960" y="3118104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961120" y="3099816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961120" y="3118104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241279" y="3099816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241279" y="3118104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977639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365760" y="3977639"/>
            <a:ext cx="5577840" cy="347472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02920" y="4014215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ELIMINATION  R2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383280" y="4014215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R2 ← R2 − (−0.667) × R1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4434839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457200" y="4453127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737360" y="4434839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737360" y="4453127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017520" y="4434839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017520" y="4453127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97679" y="4434839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297679" y="4453127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−11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57200" y="5001767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457200" y="5020055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737360" y="5001767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737360" y="5020055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0.33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017520" y="5001767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3017520" y="5020055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0.33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297679" y="5001767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4297679" y="5020055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0.67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5568695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457200" y="5586983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−2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737360" y="5568695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737360" y="5586983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017520" y="5568695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3017520" y="5586983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297679" y="5568695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4297679" y="5586983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09360" y="3977639"/>
            <a:ext cx="557784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6309360" y="3977639"/>
            <a:ext cx="5577840" cy="347472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6446520" y="4014215"/>
            <a:ext cx="2743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UPPER TRIANGULAR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326880" y="4014215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FFFFF"/>
                </a:solidFill>
              </a:rPr>
              <a:t>Upper-triangular form — ready for back-substitution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00800" y="4434839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6400800" y="4453127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7680960" y="4434839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7680960" y="4453127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−1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961120" y="4434839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8961120" y="4453127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241279" y="4434839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241279" y="4453127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−11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400800" y="5001767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6400800" y="5020055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680960" y="5001767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7680960" y="5020055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0.33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61120" y="5001767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8961120" y="5020055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0.33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241279" y="5001767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0241279" y="5020055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0.67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400800" y="5568695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6400800" y="5586983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680960" y="5568695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7680960" y="5586983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961120" y="5568695"/>
            <a:ext cx="1207008" cy="502920"/>
          </a:xfrm>
          <a:prstGeom prst="rect">
            <a:avLst/>
          </a:prstGeom>
          <a:solidFill>
            <a:srgbClr val="F8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8961120" y="5586983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F172A"/>
                </a:solidFill>
              </a:rPr>
              <a:t>0.33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0241279" y="5568695"/>
            <a:ext cx="1207008" cy="5029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241279" y="5586983"/>
            <a:ext cx="12070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F172A"/>
                </a:solidFill>
              </a:rPr>
              <a:t>−0.33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6492240"/>
            <a:ext cx="11430000" cy="164592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48640" y="652881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→  Back substitution yields  x₃ = −1   x₂ = 3   x₁ = 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88952" cy="54864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3520440" cy="1783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3520440" cy="402336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9809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4290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Gaussian Elimination with Partial Pivoting solves Ax = b stably for any non-singular n×n system in O(n³)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79" y="2926080"/>
            <a:ext cx="3520440" cy="1783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79" y="2926080"/>
            <a:ext cx="3520440" cy="402336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07407" y="29809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7" y="34290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NumPy handles all floating-point arithmetic; condition number check catches ill-posed systems before results mislead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19" y="2926080"/>
            <a:ext cx="3520440" cy="1783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46719" y="2926080"/>
            <a:ext cx="3520440" cy="402336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56447" y="298094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7" y="34290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Input validated at every layer — Python, FastAPI, and React — with clear user-facing error messages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3520440" cy="1783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4937760"/>
            <a:ext cx="3520440" cy="402336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8" y="499262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Visualisation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4406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SVG bar chart gives instant intuition about the solution: magnitude, sign, and relative size of each variable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79" y="4937760"/>
            <a:ext cx="3520440" cy="1783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297679" y="4937760"/>
            <a:ext cx="3520440" cy="402336"/>
          </a:xfrm>
          <a:prstGeom prst="rect">
            <a:avLst/>
          </a:prstGeom>
          <a:solidFill>
            <a:srgbClr val="06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7407" y="4992624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7" y="544068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Mathematical residual test A·x = b is the gold-standard correctness check beyond just 'code runs without errors'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2636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475669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e432821-41d3-4015-8400-4ae6558dd28f}" enabled="1" method="Privileged" siteId="{8c7a02b0-b409-4a14-8332-6772575f453b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1997</Words>
  <Application>Microsoft Office PowerPoint</Application>
  <PresentationFormat>Custom</PresentationFormat>
  <Paragraphs>332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Shesh kumar, Chandana</cp:lastModifiedBy>
  <cp:revision>1</cp:revision>
  <dcterms:created xsi:type="dcterms:W3CDTF">2013-01-27T09:14:16Z</dcterms:created>
  <dcterms:modified xsi:type="dcterms:W3CDTF">2026-06-18T06:10:07Z</dcterms:modified>
  <cp:category/>
</cp:coreProperties>
</file>